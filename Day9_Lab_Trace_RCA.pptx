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56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7B3FBF">
              <a:alpha val="30000"/>
            </a:srgbClr>
          </a:solidFill>
          <a:ln w="12700">
            <a:solidFill>
              <a:srgbClr val="7B3FB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0"/>
            <a:ext cx="1828800" cy="1828800"/>
          </a:xfrm>
          <a:prstGeom prst="ellipse">
            <a:avLst/>
          </a:prstGeom>
          <a:solidFill>
            <a:srgbClr val="7B3FBF">
              <a:alpha val="25000"/>
            </a:srgbClr>
          </a:solidFill>
          <a:ln w="12700">
            <a:solidFill>
              <a:srgbClr val="7B3FB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3200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200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3200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3200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3200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09728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09728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09728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09728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87452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87452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87452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87452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187452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65176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65176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65176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65176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65176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342900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42900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42900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342900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342900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42062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2062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42062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42062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4206240"/>
            <a:ext cx="64008" cy="64008"/>
          </a:xfrm>
          <a:prstGeom prst="ellipse">
            <a:avLst/>
          </a:prstGeom>
          <a:solidFill>
            <a:srgbClr val="2176C7">
              <a:alpha val="40000"/>
            </a:srgbClr>
          </a:solidFill>
          <a:ln w="12700">
            <a:solidFill>
              <a:srgbClr val="2176C7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57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D4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APM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1874520"/>
            <a:ext cx="2194560" cy="36576"/>
          </a:xfrm>
          <a:prstGeom prst="rect">
            <a:avLst/>
          </a:prstGeom>
          <a:solidFill>
            <a:srgbClr val="9B6CC7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01168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Duration:  60–90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Level:      Intermediate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Type:       Hands-On Lab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Platform:  Datadog + K8s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0440" y="10058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Analysis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3520440" y="1737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78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Root Cause Analysis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3520440" y="23317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3520440" y="3063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Flame Graphs, Trace Explorer &amp; Flow Maps to diagnose production incidents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520440" y="3840480"/>
            <a:ext cx="1261872" cy="822960"/>
          </a:xfrm>
          <a:prstGeom prst="rect">
            <a:avLst/>
          </a:prstGeom>
          <a:solidFill>
            <a:srgbClr val="7B3FBF">
              <a:alpha val="80000"/>
            </a:srgbClr>
          </a:solidFill>
          <a:ln w="12700">
            <a:solidFill>
              <a:srgbClr val="7B5F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38587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520440" y="4261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19472" y="3840480"/>
            <a:ext cx="1261872" cy="822960"/>
          </a:xfrm>
          <a:prstGeom prst="rect">
            <a:avLst/>
          </a:prstGeom>
          <a:solidFill>
            <a:srgbClr val="7B3FBF">
              <a:alpha val="80000"/>
            </a:srgbClr>
          </a:solidFill>
          <a:ln w="12700">
            <a:solidFill>
              <a:srgbClr val="7B5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8587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919472" y="4261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18504" y="3840480"/>
            <a:ext cx="1261872" cy="822960"/>
          </a:xfrm>
          <a:prstGeom prst="rect">
            <a:avLst/>
          </a:prstGeom>
          <a:solidFill>
            <a:srgbClr val="7B3FBF">
              <a:alpha val="80000"/>
            </a:srgbClr>
          </a:solidFill>
          <a:ln w="12700">
            <a:solidFill>
              <a:srgbClr val="7B5F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18504" y="38587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318504" y="4261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Steps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17536" y="3840480"/>
            <a:ext cx="1261872" cy="822960"/>
          </a:xfrm>
          <a:prstGeom prst="rect">
            <a:avLst/>
          </a:prstGeom>
          <a:solidFill>
            <a:srgbClr val="7B3FBF">
              <a:alpha val="80000"/>
            </a:srgbClr>
          </a:solidFill>
          <a:ln w="12700">
            <a:solidFill>
              <a:srgbClr val="7B5F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17536" y="38587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min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717536" y="4261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Goal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051560"/>
            <a:ext cx="2651760" cy="347472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881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" y="1435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Anatomy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8562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Spans, trees, tags &amp; metadata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51560"/>
            <a:ext cx="2651760" cy="347472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0881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82696" y="1435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Spans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18562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diagnose slow 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051560"/>
            <a:ext cx="26517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10881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3056" y="1435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High-Error Spans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18562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types, messages, stack traces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2971800"/>
            <a:ext cx="2651760" cy="34747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008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&amp; Timeouts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" y="37764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DB/external call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71800"/>
            <a:ext cx="2651760" cy="347472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3008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82696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Graphs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82696" y="37764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Explorer &amp; span deep-dives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53328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2971800"/>
            <a:ext cx="2651760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3008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63056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Maps &amp; RCA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63056" y="37764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queries to pinpoint root cause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0" y="914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Microservices on Kubernetes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49040" y="914400"/>
            <a:ext cx="1737360" cy="594360"/>
          </a:xfrm>
          <a:prstGeom prst="rect">
            <a:avLst/>
          </a:prstGeom>
          <a:solidFill>
            <a:srgbClr val="5C2D9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0" y="914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737360" cy="594360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103120"/>
            <a:ext cx="1737360" cy="594360"/>
          </a:xfrm>
          <a:prstGeom prst="rect">
            <a:avLst/>
          </a:prstGeom>
          <a:solidFill>
            <a:srgbClr val="0A7C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Svc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1737360" cy="594360"/>
          </a:xfrm>
          <a:prstGeom prst="rect">
            <a:avLst/>
          </a:prstGeom>
          <a:solidFill>
            <a:srgbClr val="D354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Svc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1737360" cy="594360"/>
          </a:xfrm>
          <a:prstGeom prst="rect">
            <a:avLst/>
          </a:prstGeom>
          <a:solidFill>
            <a:srgbClr val="3741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337560"/>
            <a:ext cx="1737360" cy="59436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337560"/>
            <a:ext cx="1737360" cy="594360"/>
          </a:xfrm>
          <a:prstGeom prst="rect">
            <a:avLst/>
          </a:prstGeom>
          <a:solidFill>
            <a:srgbClr val="3741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103120"/>
            <a:ext cx="1737360" cy="594360"/>
          </a:xfrm>
          <a:prstGeom prst="rect">
            <a:avLst/>
          </a:prstGeom>
          <a:solidFill>
            <a:srgbClr val="7B3FB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Injector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" y="1005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508760"/>
            <a:ext cx="0" cy="594360"/>
          </a:xfrm>
          <a:prstGeom prst="line">
            <a:avLst/>
          </a:prstGeom>
          <a:noFill/>
          <a:ln w="19050">
            <a:solidFill>
              <a:srgbClr val="6677AA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4617720" y="1508760"/>
            <a:ext cx="0" cy="594360"/>
          </a:xfrm>
          <a:prstGeom prst="line">
            <a:avLst/>
          </a:prstGeom>
          <a:noFill/>
          <a:ln w="19050">
            <a:solidFill>
              <a:srgbClr val="6677AA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4617720" y="1508760"/>
            <a:ext cx="0" cy="594360"/>
          </a:xfrm>
          <a:prstGeom prst="line">
            <a:avLst/>
          </a:prstGeom>
          <a:noFill/>
          <a:ln w="19050">
            <a:solidFill>
              <a:srgbClr val="6677A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1325880" y="2697480"/>
            <a:ext cx="0" cy="640080"/>
          </a:xfrm>
          <a:prstGeom prst="line">
            <a:avLst/>
          </a:prstGeom>
          <a:noFill/>
          <a:ln w="19050">
            <a:solidFill>
              <a:srgbClr val="4488BB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3611880" y="2697480"/>
            <a:ext cx="0" cy="640080"/>
          </a:xfrm>
          <a:prstGeom prst="line">
            <a:avLst/>
          </a:prstGeom>
          <a:noFill/>
          <a:ln w="19050">
            <a:solidFill>
              <a:srgbClr val="44AA88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5897880" y="2697480"/>
            <a:ext cx="0" cy="640080"/>
          </a:xfrm>
          <a:prstGeom prst="line">
            <a:avLst/>
          </a:prstGeom>
          <a:noFill/>
          <a:ln w="19050">
            <a:solidFill>
              <a:srgbClr val="DD7733"/>
            </a:solidFill>
            <a:prstDash val="sysDash"/>
          </a:ln>
        </p:spPr>
      </p:sp>
      <p:sp>
        <p:nvSpPr>
          <p:cNvPr id="28" name="Text 2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APM instruments all services via ddtrace-run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3337560"/>
            <a:ext cx="1737360" cy="59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44AA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4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Lab only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 Trace Anatomy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= Collection of Spans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657600" cy="347472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  POST /api/orders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743200" cy="347472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20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 POST /orders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731520" cy="347472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377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db.connect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194560" cy="347472"/>
          </a:xfrm>
          <a:prstGeom prst="rect">
            <a:avLst/>
          </a:prstGeom>
          <a:solidFill>
            <a:srgbClr val="0D9B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db.insert  INSERT INTO orders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1920240"/>
            <a:ext cx="1005840" cy="34747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6" name="Text 14"/>
          <p:cNvSpPr/>
          <p:nvPr/>
        </p:nvSpPr>
        <p:spPr>
          <a:xfrm>
            <a:off x="3090672" y="1920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inventory.check (async)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Flame Graph: width = duration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span captures: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name &amp; resource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time + duration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OK / Error / Timeout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Tags: http.url, db.statement, error…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Types to Watch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1097280" cy="45720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14538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&gt;&gt; p99 baseline → bottleneck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075688"/>
            <a:ext cx="10972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075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High-Error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1122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spike → bad deploy or dependency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734056"/>
            <a:ext cx="1097280" cy="45720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734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Span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resource called 2–5× → circuit break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392424"/>
            <a:ext cx="1097280" cy="45720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Span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= configured timeout exactly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050792"/>
            <a:ext cx="1097280" cy="45720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050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External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4087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self-time % → missing index or cache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Long-Running &amp; High-Error Spans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0664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OF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57200" cy="196596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457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Traffic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3337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traffic-gen.sh — 200 mixed requests: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normal orders, 20% slow, 20% errors, 10% retries, 10% timeouts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017520"/>
            <a:ext cx="457200" cy="192024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017520"/>
            <a:ext cx="457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Long-Running Spans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20440"/>
            <a:ext cx="333756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54787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@duration:&gt;2000000000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09651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Duration DESC → Click worst trace → Open flame graph → Read injected.delay_ms tag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0233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14400"/>
            <a:ext cx="457200" cy="1965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914400"/>
            <a:ext cx="457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High-Error Spans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1417320"/>
            <a:ext cx="333756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1444752"/>
            <a:ext cx="3200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9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status:error  service:latency-injector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2011680"/>
            <a:ext cx="3337560" cy="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5303520" y="2011680"/>
            <a:ext cx="3337560" cy="0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5303520" y="2011680"/>
            <a:ext cx="3337560" cy="0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303520" y="1993392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flame graph, red-bordered span = error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span tags panel for: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error.type  •  error.message  •  error.stack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4023360" cy="1920240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49300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resource has the highest error rate?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error propagating to parent spans?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error type in the tag panel?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many error spans are in one trace?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Retries, Timeouts &amp; DB Call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Pattern — Flame Graph 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749040" cy="292608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retry.operation  (parent — 3 attempts)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847088"/>
            <a:ext cx="320040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47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db.query.attempt  [attempt=1]  ❌ error:true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20040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db.query.attempt  [attempt=2]  ❌ error:true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542032"/>
            <a:ext cx="320040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db.query.attempt  [attempt=3]  ✅ db.status:success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env:lab  resource_name:db.query.attempt  @attempt:&gt;1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4023360" cy="4114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Signature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≈ configured timeout (e.g. 0.1 s = 100 ms)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error.message contains 'Timeout'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http.url tag shows the target endpoint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02336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Call Health Metrics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44752"/>
            <a:ext cx="1417320" cy="5029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4447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4904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 (simple SELECT)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157984"/>
            <a:ext cx="14173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2037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  (&gt;1% = pool exhaustion)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71216"/>
            <a:ext cx="1417320" cy="5029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8712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Duration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91693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 (&gt;500 ms = missing index)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84448"/>
            <a:ext cx="1417320" cy="50292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5844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6301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app traffic — expected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334256"/>
            <a:ext cx="3840480" cy="502920"/>
          </a:xfrm>
          <a:prstGeom prst="rect">
            <a:avLst/>
          </a:prstGeom>
          <a:solidFill>
            <a:srgbClr val="D6E6F7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4352544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env:lab  @db.system:postgresql  — Find the longest DB span &amp; note the resource (table)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Reading Flame Graphs &amp; Span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29260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Graph — Annotated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754880" cy="32004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32588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  POST /api/orders  (800 ms)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4389120" cy="32004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" y="1719072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  POST /orders  (750 ms)  ← WIDE: bottleneck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112264"/>
            <a:ext cx="777240" cy="32004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2112264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db.connect  (40 ms)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39319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" y="250545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db.insert  (680 ms)  ← VERY WIDE: slow query!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719072"/>
            <a:ext cx="777240" cy="3200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5" name="Text 13"/>
          <p:cNvSpPr/>
          <p:nvPr/>
        </p:nvSpPr>
        <p:spPr>
          <a:xfrm>
            <a:off x="3803904" y="171907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inventory (60 ms)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Width = duration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1168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Red span = error tag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Dotted = async boundary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50292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Detail Panel (click any span)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db.type: postgresql    db.operation: INSERT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4714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db.row_count: 1        @duration: 680000000 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690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false           net.peer.ip: 10.0.0.5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2004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868680"/>
            <a:ext cx="3200400" cy="41148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26" name="Text 24"/>
          <p:cNvSpPr/>
          <p:nvPr/>
        </p:nvSpPr>
        <p:spPr>
          <a:xfrm>
            <a:off x="5779008" y="868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Guide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1389888"/>
            <a:ext cx="27432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08192" y="1389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root span + narrow children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08192" y="15910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 that service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1965960"/>
            <a:ext cx="27432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08192" y="1965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child fills parent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08192" y="2167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IS the bottleneck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60720" y="2542032"/>
            <a:ext cx="27432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2542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repeated narrow children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08192" y="2743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query pattern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3118104"/>
            <a:ext cx="27432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08192" y="31181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parent→child start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08192" y="3319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or thread latency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3694176"/>
            <a:ext cx="27432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44" name="Text 42"/>
          <p:cNvSpPr/>
          <p:nvPr/>
        </p:nvSpPr>
        <p:spPr>
          <a:xfrm>
            <a:off x="576072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08192" y="36941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border on span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08192" y="38953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tag = true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60720" y="4270248"/>
            <a:ext cx="274320" cy="27432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08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line across rows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08192" y="44714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boundary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— Trace Queries &amp; Filters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96112"/>
            <a:ext cx="109728" cy="896112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traces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@duration:&gt;2000000000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896112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896112"/>
            <a:ext cx="109728" cy="8961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 traces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2252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status:error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920240"/>
            <a:ext cx="109728" cy="896112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spans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249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@db.system:postgresql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920240"/>
            <a:ext cx="109728" cy="89611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errors (exclude known source)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249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status:error  -service:latency-injector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944368"/>
            <a:ext cx="109728" cy="896112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span count — potential N+1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service:order-service  @_span_count:&gt;10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944368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944368"/>
            <a:ext cx="109728" cy="896112"/>
          </a:xfrm>
          <a:prstGeom prst="rect">
            <a:avLst/>
          </a:prstGeom>
          <a:solidFill>
            <a:srgbClr val="0D9B8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detection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273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resource_name:db.query.attempt  @attempt:&gt;1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968496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968496"/>
            <a:ext cx="109728" cy="896112"/>
          </a:xfrm>
          <a:prstGeom prst="rect">
            <a:avLst/>
          </a:prstGeom>
          <a:solidFill>
            <a:srgbClr val="8844CC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comparison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service:order-service  @version:1.0  status:error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968496"/>
            <a:ext cx="4206240" cy="896112"/>
          </a:xfrm>
          <a:prstGeom prst="rect">
            <a:avLst/>
          </a:prstGeom>
          <a:solidFill>
            <a:srgbClr val="1825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968496"/>
            <a:ext cx="109728" cy="89611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spans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4297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resource_name:external.call  status:error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the Analytics tab: Metric = @duration  |  Group by: resource_name  |  Percentile: p99  →  shows worst tail latency by resource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Maps — RCA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402336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 — During Incident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1389888"/>
            <a:ext cx="1234440" cy="502920"/>
          </a:xfrm>
          <a:prstGeom prst="ellipse">
            <a:avLst/>
          </a:prstGeom>
          <a:solidFill>
            <a:srgbClr val="CC99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3898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234440" cy="502920"/>
          </a:xfrm>
          <a:prstGeom prst="ellipse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31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31720" y="2331720"/>
            <a:ext cx="1234440" cy="502920"/>
          </a:xfrm>
          <a:prstGeom prst="ellipse">
            <a:avLst/>
          </a:prstGeom>
          <a:solidFill>
            <a:srgbClr val="0A7C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2331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inventory-svc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3310128"/>
            <a:ext cx="1234440" cy="502920"/>
          </a:xfrm>
          <a:prstGeom prst="ellipse">
            <a:avLst/>
          </a:prstGeom>
          <a:solidFill>
            <a:srgbClr val="55555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3101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postgres-db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3310128"/>
            <a:ext cx="1234440" cy="502920"/>
          </a:xfrm>
          <a:prstGeom prst="ellipse">
            <a:avLst/>
          </a:prstGeom>
          <a:solidFill>
            <a:srgbClr val="0A7C6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31720" y="33101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redis-cache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08760" y="1892808"/>
            <a:ext cx="0" cy="438912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1892808"/>
            <a:ext cx="0" cy="438912"/>
          </a:xfrm>
          <a:prstGeom prst="line">
            <a:avLst/>
          </a:prstGeom>
          <a:noFill/>
          <a:ln w="25400">
            <a:solidFill>
              <a:srgbClr val="0A7C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7008" y="2834640"/>
            <a:ext cx="0" cy="475488"/>
          </a:xfrm>
          <a:prstGeom prst="line">
            <a:avLst/>
          </a:prstGeom>
          <a:noFill/>
          <a:ln w="25400">
            <a:solidFill>
              <a:srgbClr val="999999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2944368" y="2834640"/>
            <a:ext cx="0" cy="475488"/>
          </a:xfrm>
          <a:prstGeom prst="line">
            <a:avLst/>
          </a:prstGeom>
          <a:noFill/>
          <a:ln w="25400">
            <a:solidFill>
              <a:srgbClr val="0A7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edge = errors flowing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dashed = no response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edge = healthy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44805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914400"/>
            <a:ext cx="4480560" cy="411480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23" name="Text 21"/>
          <p:cNvSpPr/>
          <p:nvPr/>
        </p:nvSpPr>
        <p:spPr>
          <a:xfrm>
            <a:off x="4462272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RCA with Flow Maps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62272" y="1463040"/>
            <a:ext cx="347472" cy="347472"/>
          </a:xfrm>
          <a:prstGeom prst="ellipse">
            <a:avLst/>
          </a:prstGeom>
          <a:solidFill>
            <a:srgbClr val="0A7C6E"/>
          </a:solidFill>
          <a:ln/>
        </p:spPr>
      </p:sp>
      <p:sp>
        <p:nvSpPr>
          <p:cNvPr id="25" name="Text 23"/>
          <p:cNvSpPr/>
          <p:nvPr/>
        </p:nvSpPr>
        <p:spPr>
          <a:xfrm>
            <a:off x="4462272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499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RED node (service with active errors)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62272" y="2029968"/>
            <a:ext cx="347472" cy="347472"/>
          </a:xfrm>
          <a:prstGeom prst="ellipse">
            <a:avLst/>
          </a:prstGeom>
          <a:solidFill>
            <a:srgbClr val="0A7C6E"/>
          </a:solidFill>
          <a:ln/>
        </p:spPr>
      </p:sp>
      <p:sp>
        <p:nvSpPr>
          <p:cNvPr id="28" name="Text 26"/>
          <p:cNvSpPr/>
          <p:nvPr/>
        </p:nvSpPr>
        <p:spPr>
          <a:xfrm>
            <a:off x="4462272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0665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incoming arrows — is error initiated here or passed up?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62272" y="2596896"/>
            <a:ext cx="347472" cy="347472"/>
          </a:xfrm>
          <a:prstGeom prst="ellipse">
            <a:avLst/>
          </a:prstGeom>
          <a:solidFill>
            <a:srgbClr val="0A7C6E"/>
          </a:solidFill>
          <a:ln/>
        </p:spPr>
      </p:sp>
      <p:sp>
        <p:nvSpPr>
          <p:cNvPr id="31" name="Text 29"/>
          <p:cNvSpPr/>
          <p:nvPr/>
        </p:nvSpPr>
        <p:spPr>
          <a:xfrm>
            <a:off x="4462272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6334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outgoing arrows — which downstream services are hit?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62272" y="3163824"/>
            <a:ext cx="347472" cy="347472"/>
          </a:xfrm>
          <a:prstGeom prst="ellipse">
            <a:avLst/>
          </a:prstGeom>
          <a:solidFill>
            <a:srgbClr val="0A7C6E"/>
          </a:solidFill>
          <a:ln/>
        </p:spPr>
      </p:sp>
      <p:sp>
        <p:nvSpPr>
          <p:cNvPr id="34" name="Text 32"/>
          <p:cNvSpPr/>
          <p:nvPr/>
        </p:nvSpPr>
        <p:spPr>
          <a:xfrm>
            <a:off x="4462272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200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red edge → View Traces → jump to error traces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62272" y="3730752"/>
            <a:ext cx="347472" cy="347472"/>
          </a:xfrm>
          <a:prstGeom prst="ellipse">
            <a:avLst/>
          </a:prstGeom>
          <a:solidFill>
            <a:srgbClr val="0A7C6E"/>
          </a:solidFill>
          <a:ln/>
        </p:spPr>
      </p:sp>
      <p:sp>
        <p:nvSpPr>
          <p:cNvPr id="37" name="Text 35"/>
          <p:cNvSpPr/>
          <p:nvPr/>
        </p:nvSpPr>
        <p:spPr>
          <a:xfrm>
            <a:off x="446227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767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flame graph for worst trace → find failing span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62272" y="4297680"/>
            <a:ext cx="347472" cy="347472"/>
          </a:xfrm>
          <a:prstGeom prst="ellipse">
            <a:avLst/>
          </a:prstGeom>
          <a:solidFill>
            <a:srgbClr val="0A7C6E"/>
          </a:solidFill>
          <a:ln/>
        </p:spPr>
      </p:sp>
      <p:sp>
        <p:nvSpPr>
          <p:cNvPr id="40" name="Text 38"/>
          <p:cNvSpPr/>
          <p:nvPr/>
        </p:nvSpPr>
        <p:spPr>
          <a:xfrm>
            <a:off x="4462272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3342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error.message &amp; db.statement tags → root cause!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Hands-On RCA Scenario — Checkout Failure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6400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 order-service error rate jumped from 0.2% → 35% in last 15 min. Customers reporting failed checkouts.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572000" cy="138988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incident: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postgres \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service-map-lab --replicas=0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7157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10 &amp;&amp; ./traffic-gen.sh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54680"/>
            <a:ext cx="41148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15468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322783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→ Service Map → order-service → View Flow 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154680"/>
            <a:ext cx="41148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15468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65776" y="322783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RED edge — which dependency is failing?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76472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76472"/>
            <a:ext cx="41148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7764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38496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red edge → View Traces → open slowest trace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776472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776472"/>
            <a:ext cx="41148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764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65776" y="38496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graph → find first error:true span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398264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398264"/>
            <a:ext cx="41148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39826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" y="4471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error.message → 'Connection refused to postgres'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398264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4398264"/>
            <a:ext cx="411480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39826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65776" y="4471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Restore: kubectl scale deployment postgres --replicas=1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1664208"/>
            <a:ext cx="3749040" cy="138988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1709928"/>
            <a:ext cx="3566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RCA Form in your lab document: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Affected service(s)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 service &amp; span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message from tags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to identify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Scenarios (Optional)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685800" cy="1261872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685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Query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371600"/>
            <a:ext cx="72237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389888"/>
            <a:ext cx="7132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env:lab  service:order-service  @_span_count:&gt;20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7556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traces where DB is called once per loop iteration. High span count with same resource_name repeated = classic N+1.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41248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22576"/>
            <a:ext cx="685800" cy="1261872"/>
          </a:xfrm>
          <a:prstGeom prst="rect">
            <a:avLst/>
          </a:prstGeom>
          <a:solidFill>
            <a:srgbClr val="0A7C6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22576"/>
            <a:ext cx="685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3957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Query Simulation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" y="2761488"/>
            <a:ext cx="72237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779776"/>
            <a:ext cx="7132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deployment/postgres -- psql -c "SELECT pg_sleep(5);"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31455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 unindexed full-table scan. Filter: env:lab  @db.system:postgresql  @duration:&gt;4000000000  to see it surface.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841248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12464"/>
            <a:ext cx="685800" cy="126187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12464"/>
            <a:ext cx="685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7856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Cascade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43000" y="4151376"/>
            <a:ext cx="72237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169664"/>
            <a:ext cx="7132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postgres redis -n service-map-lab --replicas=0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453542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both postgres AND redis simultaneously. Observe Flow Map showing TWO separate red paths — order-service and inventory-service both degrade.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69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spans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618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Duration DESC in Trace Explorer — widest span = bottleneck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914400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914400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1440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59552" y="969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High-error spans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59552" y="12618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status:error filter + flame graph red border + error.message tag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38528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38528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93852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87552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22860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resource_name repeated as child spans — use @attempt:&gt;1 filter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1938528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938528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93852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9552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22860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≈ timeout value + error.message contains 'Timeout'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62656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62656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962656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7552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graphs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33101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duration; widest child = root cause; red border = error span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962656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962656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962656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59552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59552" y="33101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edge → click → View Traces → spans tell the full story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986784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986784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7552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queries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43342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filters to isolate: cascading errors, N+1, version regressions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3986784"/>
            <a:ext cx="4251960" cy="868680"/>
          </a:xfrm>
          <a:prstGeom prst="rect">
            <a:avLst/>
          </a:prstGeom>
          <a:solidFill>
            <a:srgbClr val="1A2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986784"/>
            <a:ext cx="594360" cy="86868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986784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59552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goal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59552" y="43342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+ Trace Explorer = root cause in under 2 minutes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7B3FBF">
              <a:alpha val="20000"/>
            </a:srgbClr>
          </a:solidFill>
          <a:ln w="12700">
            <a:solidFill>
              <a:srgbClr val="7B3FB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7B3FBF">
              <a:alpha val="20000"/>
            </a:srgbClr>
          </a:solidFill>
          <a:ln w="12700">
            <a:solidFill>
              <a:srgbClr val="7B3FB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Complete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diagnose production incidents using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4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APM Trace Explorer, Flame Graphs &amp; Flow Maps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2286000"/>
          </a:xfrm>
          <a:prstGeom prst="rect">
            <a:avLst/>
          </a:prstGeom>
          <a:solidFill>
            <a:srgbClr val="3D1C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50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44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Explorer Docs: docs.datadoghq.com/tracing/trace_explorer/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37760" y="2944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Graph Guide: docs.datadoghq.com/tracing/trace_explorer/trace_view/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419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Metrics: docs.datadoghq.com/tracing/metrics/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0" y="3419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Query Syntax: docs.datadoghq.com/tracing/trace_explorer/query_syntax/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1568</Words>
  <Application>Microsoft Office PowerPoint</Application>
  <PresentationFormat>On-screen Show (16:9)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APM – Trace Analysis &amp; RCA Lab</dc:title>
  <dc:subject>PptxGenJS Presentation</dc:subject>
  <dc:creator>Day 8 Workshop</dc:creator>
  <cp:lastModifiedBy>john test</cp:lastModifiedBy>
  <cp:revision>2</cp:revision>
  <dcterms:created xsi:type="dcterms:W3CDTF">2026-02-17T07:58:42Z</dcterms:created>
  <dcterms:modified xsi:type="dcterms:W3CDTF">2026-02-18T02:06:37Z</dcterms:modified>
</cp:coreProperties>
</file>