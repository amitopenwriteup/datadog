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32C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Datadog Service Map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C9A7"/>
                </a:solidFill>
              </a:rPr>
              <a:t>A Beginner's Guide to Understanding Service Dependencies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2918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What We'll Learn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1371600"/>
            <a:ext cx="6766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632CA6"/>
                </a:solidFill>
              </a:rPr>
              <a:t>1. What is Service Map?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  Understanding how your applications connect and communicate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632CA6"/>
                </a:solidFill>
              </a:rPr>
              <a:t>2. Upstream vs Downstream Dependencies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  Who calls you? Who do you call? And why it matters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632CA6"/>
                </a:solidFill>
              </a:rPr>
              <a:t>3. Finding Problems When Things Break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  How to quickly identify which service is causing issues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632CA6"/>
                </a:solidFill>
              </a:rPr>
              <a:t>4. Service Health Metrics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  Understanding error rates, latency, and anomalies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632CA6"/>
                </a:solidFill>
              </a:rPr>
              <a:t>5. Watchdog: Your Automated Detective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  How AI helps you catch problems before they escalate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First: What is a Microservice?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</a:rPr>
              <a:t>Traditional Monolith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2011680" cy="20116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One Big Application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All code together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One deployment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Hard to scale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One failure = everything fails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Microservices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303520" y="1828800"/>
            <a:ext cx="118872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8288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Service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1828800"/>
            <a:ext cx="118872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8288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Auth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Service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2834640"/>
            <a:ext cx="118872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8346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Payment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Service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2834640"/>
            <a:ext cx="118872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8346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Order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Service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2064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Independent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Deploy separately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Scale individually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One failure ≠ total outage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What is Service Map?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632C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Service Map is a visual representation of your application architecture showing how all your microservices connect and communicate with each other in real-time.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2CA6"/>
                </a:solidFill>
              </a:rPr>
              <a:t>Think of it like a map of a city: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Services = Buildings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Connections = Roads between buildings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Traffic = Requests flowing between services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Colors = Health status (green = healthy, red = problems)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Example: E-commerce Application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1371600" cy="914400"/>
          </a:xfrm>
          <a:prstGeom prst="rect">
            <a:avLst/>
          </a:prstGeom>
          <a:solidFill>
            <a:srgbClr val="632C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860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Mobile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App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194560" y="2377440"/>
            <a:ext cx="914400" cy="365760"/>
          </a:xfrm>
          <a:prstGeom prst="rightArrow">
            <a:avLst/>
          </a:prstGeom>
          <a:solidFill>
            <a:srgbClr val="632CA6"/>
          </a:solidFill>
          <a:ln/>
        </p:spPr>
      </p:sp>
      <p:sp>
        <p:nvSpPr>
          <p:cNvPr id="7" name="Shape 4"/>
          <p:cNvSpPr/>
          <p:nvPr/>
        </p:nvSpPr>
        <p:spPr>
          <a:xfrm>
            <a:off x="3200400" y="2103120"/>
            <a:ext cx="1371600" cy="91440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2860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Gateway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749040" y="3108960"/>
            <a:ext cx="365760" cy="731520"/>
          </a:xfrm>
          <a:prstGeom prst="downArrow">
            <a:avLst/>
          </a:prstGeom>
          <a:solidFill>
            <a:srgbClr val="00C9A7"/>
          </a:solidFill>
          <a:ln/>
        </p:spPr>
      </p:sp>
      <p:sp>
        <p:nvSpPr>
          <p:cNvPr id="11" name="Shape 7"/>
          <p:cNvSpPr/>
          <p:nvPr/>
        </p:nvSpPr>
        <p:spPr>
          <a:xfrm>
            <a:off x="3200400" y="3931920"/>
            <a:ext cx="1371600" cy="9144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1148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00400" y="39319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Service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663440" y="4206240"/>
            <a:ext cx="914400" cy="36576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5" name="Shape 10"/>
          <p:cNvSpPr/>
          <p:nvPr/>
        </p:nvSpPr>
        <p:spPr>
          <a:xfrm>
            <a:off x="5669280" y="3931920"/>
            <a:ext cx="1371600" cy="914400"/>
          </a:xfrm>
          <a:prstGeom prst="rect">
            <a:avLst/>
          </a:prstGeom>
          <a:solidFill>
            <a:srgbClr val="FFB02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11480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69280" y="39319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Service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132320" y="4206240"/>
            <a:ext cx="914400" cy="365760"/>
          </a:xfrm>
          <a:prstGeom prst="rightArrow">
            <a:avLst/>
          </a:prstGeom>
          <a:solidFill>
            <a:srgbClr val="FFB020"/>
          </a:solidFill>
          <a:ln/>
        </p:spPr>
      </p:sp>
      <p:sp>
        <p:nvSpPr>
          <p:cNvPr id="19" name="Shape 13"/>
          <p:cNvSpPr/>
          <p:nvPr/>
        </p:nvSpPr>
        <p:spPr>
          <a:xfrm>
            <a:off x="8138160" y="3931920"/>
            <a:ext cx="1371600" cy="914400"/>
          </a:xfrm>
          <a:prstGeom prst="rect">
            <a:avLst/>
          </a:prstGeom>
          <a:solidFill>
            <a:srgbClr val="632CA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411480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138160" y="39319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Database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Each box = a service  |  Each arrow = a dependency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Understanding: Upstream Dependencies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Upstream = Services that CALL YOU (your customers)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194560"/>
            <a:ext cx="548640" cy="5486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1945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4400" y="2103120"/>
            <a:ext cx="1097280" cy="7315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4"/>
          <p:cNvSpPr/>
          <p:nvPr/>
        </p:nvSpPr>
        <p:spPr>
          <a:xfrm>
            <a:off x="91440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Frontend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74720" y="2103120"/>
            <a:ext cx="1371600" cy="731520"/>
          </a:xfrm>
          <a:prstGeom prst="rect">
            <a:avLst/>
          </a:prstGeom>
          <a:solidFill>
            <a:srgbClr val="632CA6"/>
          </a:solidFill>
          <a:ln/>
        </p:spPr>
      </p:sp>
      <p:sp>
        <p:nvSpPr>
          <p:cNvPr id="10" name="Text 6"/>
          <p:cNvSpPr/>
          <p:nvPr/>
        </p:nvSpPr>
        <p:spPr>
          <a:xfrm>
            <a:off x="3474720" y="21031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YOUR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SERVICE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14400" y="32004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09728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Why Upstream Matters: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7280" y="3749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They depend on you being available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If they send bad requests, you get errors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If they suddenly send 10x more traffic, you might overload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You need to handle their failures gracefully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212080" y="3200400"/>
            <a:ext cx="3657600" cy="16459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1"/>
          <p:cNvSpPr/>
          <p:nvPr/>
        </p:nvSpPr>
        <p:spPr>
          <a:xfrm>
            <a:off x="539496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2CA6"/>
                </a:solidFill>
              </a:rPr>
              <a:t>Real Example: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394960" y="3749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If you're the Checkout Service: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Mobile App is upstream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Web App is upstream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Partner API is upstream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They all send checkout requests to YOU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Understanding: Downstream Dependencies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Downstream = Services that YOU CALL (your dependencies)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1371600" cy="731520"/>
          </a:xfrm>
          <a:prstGeom prst="rect">
            <a:avLst/>
          </a:prstGeom>
          <a:solidFill>
            <a:srgbClr val="632CA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1031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YOUR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SERVICE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2194560"/>
            <a:ext cx="548640" cy="5486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194560"/>
            <a:ext cx="548640" cy="548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0" y="2103120"/>
            <a:ext cx="1097280" cy="7315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Database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14400" y="32004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09728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</a:rPr>
              <a:t>Why Downstream Matters: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7280" y="3749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If they're down, YOU can't complete requests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If they're slow, YOU become slow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If they return errors, YOU must handle them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Their problems become YOUR problems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212080" y="3200400"/>
            <a:ext cx="3657600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1"/>
          <p:cNvSpPr/>
          <p:nvPr/>
        </p:nvSpPr>
        <p:spPr>
          <a:xfrm>
            <a:off x="539496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2CA6"/>
                </a:solidFill>
              </a:rPr>
              <a:t>Real Example: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394960" y="3749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If you're the Checkout Service: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Payment Gateway is downstream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Inventory Service is downstream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Email Service is downstream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YOU call them to complete checkout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The Critical Difference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2CA6"/>
                </a:solidFill>
              </a:rPr>
              <a:t>Upstream Problems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Spike in traffic</a:t>
            </a:r>
            <a:endParaRPr lang="en-US" sz="13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Your service gets overloaded</a:t>
            </a:r>
            <a:endParaRPr lang="en-US" sz="13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You might crash or slow down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Bad requests</a:t>
            </a:r>
            <a:endParaRPr lang="en-US" sz="13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Your service returns errors</a:t>
            </a:r>
            <a:endParaRPr lang="en-US" sz="13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But YOU are still working fine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C9A7"/>
                </a:solidFill>
              </a:rPr>
              <a:t>Action: Add rate limiting, 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4114800" cy="3200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2CA6"/>
                </a:solidFill>
              </a:rPr>
              <a:t>Downstream Problems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Database is down</a:t>
            </a:r>
            <a:endParaRPr lang="en-US" sz="13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YOU can't save data</a:t>
            </a:r>
            <a:endParaRPr lang="en-US" sz="13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YOU return errors to users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Payment service is slow</a:t>
            </a:r>
            <a:endParaRPr lang="en-US" sz="13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YOU wait for responses</a:t>
            </a:r>
            <a:endParaRPr lang="en-US" sz="13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Users see long load times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6B6B"/>
                </a:solidFill>
              </a:rPr>
              <a:t>Action: Add retries, circuit breakers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What Happens When Things Go Wrong?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6B6B"/>
                </a:solidFill>
              </a:rPr>
              <a:t>Scenario: Payment Service Fails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600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10:00 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6002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Payment Service crashes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10:01 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1488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Checkout Service starts failing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10:02 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6974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Error rate spikes to 80%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10:03 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2461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Users can't complete purchases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10:05 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7947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Service Map shows Payment in RED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632C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Service Map helps you see the entire chain of failures in ONE VIEW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How to Identify Failing Dependencies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2CA6"/>
                </a:solidFill>
              </a:rPr>
              <a:t>Visual Indicators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Green Node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Service is healthy, low errors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320040" cy="3200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Orange Node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Service has warnings, elevated latency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Red Node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Service is failing, high error rate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320040" cy="3200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Gray Node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data, service may be down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2CA6"/>
                </a:solidFill>
              </a:rPr>
              <a:t>Investigation Steps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b="1" dirty="0">
                <a:solidFill>
                  <a:srgbClr val="1E293B"/>
                </a:solidFill>
              </a:rPr>
              <a:t>1. Start at the RED node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 This is where the problem 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b="1" dirty="0">
                <a:solidFill>
                  <a:srgbClr val="1E293B"/>
                </a:solidFill>
              </a:rPr>
              <a:t>2. Check its downstream services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 Are they also red? One of them caused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b="1" dirty="0">
                <a:solidFill>
                  <a:srgbClr val="1E293B"/>
                </a:solidFill>
              </a:rPr>
              <a:t>3. Check its upstream services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 Are they sending bad traffic?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b="1" dirty="0">
                <a:solidFill>
                  <a:srgbClr val="1E293B"/>
                </a:solidFill>
              </a:rPr>
              <a:t>4. Look at the metrics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 Error rate? Latency? When did it start?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Service Health: Error Rates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Error Rate = Percentage of requests that fail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</a:rPr>
              <a:t>What Causes Errors?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4xx Errors (Client Errors)</a:t>
            </a:r>
            <a:endParaRPr lang="en-US" sz="12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400 Bad Request - Invalid data</a:t>
            </a:r>
            <a:endParaRPr lang="en-US" sz="12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401 Unauthorized - Missing auth</a:t>
            </a:r>
            <a:endParaRPr lang="en-US" sz="12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404 Not Found - Wrong endpoint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5xx Errors (Server Errors)</a:t>
            </a:r>
            <a:endParaRPr lang="en-US" sz="12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500 Internal Error - Code crash</a:t>
            </a:r>
            <a:endParaRPr lang="en-US" sz="12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503 Service Unavailable - Overload</a:t>
            </a:r>
            <a:endParaRPr lang="en-US" sz="12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504 Gateway Timeout - Slow dependency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4114800" cy="23774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2CA6"/>
                </a:solidFill>
              </a:rPr>
              <a:t>What's Normal?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6517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 &lt; 0.1% error rate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Excellent! Service is healthy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</a:rPr>
              <a:t>⚠ 0.1% - 1% error rate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Warning! Investigate soon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✕ &gt; 1% error rate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Critical! Fix immediately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📊 Track errors over time to see patterns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Service Health: Latency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Latency = How long it takes to respond to a request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1488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2CA6"/>
                </a:solidFill>
              </a:rPr>
              <a:t>Understanding Percentiles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0175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p50 (median): 50% of requests are faster than this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Example: p50 = 100ms means half your users wait less than 100ms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p95: 95% of requests are faster than this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Example: p95 = 500ms means 95% of users wait less than 500ms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p99: 99% of requests are faster than this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Example: p99 = 2s means 1% of users wait more than 2 seconds (these are your worst experiences)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Service Health: Anomalies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Anomaly = Unusual pattern that doesn't match normal behavior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94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</a:rPr>
              <a:t>Examples of Anomalies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Sudden spike in traffic</a:t>
            </a:r>
            <a:endParaRPr lang="en-US" sz="12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Usually get 100 requests/sec</a:t>
            </a:r>
            <a:endParaRPr lang="en-US" sz="12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Suddenly getting 1000 requests/sec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Unusual response times</a:t>
            </a:r>
            <a:endParaRPr lang="en-US" sz="12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Normally respond in 200ms</a:t>
            </a:r>
            <a:endParaRPr lang="en-US" sz="12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Now taking 5 seconds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Strange error patterns</a:t>
            </a:r>
            <a:endParaRPr lang="en-US" sz="12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0.1% errors every day for months</a:t>
            </a:r>
            <a:endParaRPr lang="en-US" sz="12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Today suddenly 10% errors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4114800" cy="237744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194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2CA6"/>
                </a:solidFill>
              </a:rPr>
              <a:t>Why Detect Anomalies?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6517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 Catch problems early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Before they become major outages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 Find issues you didn't expect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No need to set thresholds for everything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 Understand trends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Is traffic growing? Need more capacity?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 Reduce alert fatigue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Only alert on truly unusual behavior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Meet Watchdog: Your AI Assistant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solidFill>
            <a:srgbClr val="632CA6"/>
          </a:solidFill>
          <a:ln/>
        </p:spPr>
      </p:sp>
      <p:sp>
        <p:nvSpPr>
          <p:cNvPr id="5" name="Text 2"/>
          <p:cNvSpPr/>
          <p:nvPr/>
        </p:nvSpPr>
        <p:spPr>
          <a:xfrm>
            <a:off x="1554480" y="23774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Watchdog automatically detects anomalies and alerts you to problems WITHOUT needing manual configuration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291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3474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2CA6"/>
                </a:solidFill>
              </a:rPr>
              <a:t>What Watchdog Does: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Learns your normal patterns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Detects when things change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Alerts you to anomalies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3291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0" y="3474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2CA6"/>
                </a:solidFill>
              </a:rPr>
              <a:t>What You Get: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37760" y="3840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No manual threshold setup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Context about what changed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Correlation across services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How Watchdog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2CA6"/>
                </a:solidFill>
              </a:rPr>
              <a:t>Collects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8132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Watches metrics, traces, and logs from all your services 24/7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2CA6"/>
                </a:solidFill>
              </a:rPr>
              <a:t>Learns Patterns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16712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Builds a baseline of what's 'normal' for each service (traffic, errors, latency)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2CA6"/>
                </a:solidFill>
              </a:rPr>
              <a:t>Detects Anomalies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85292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Uses machine learning to identify when metrics deviate from expected patterns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2CA6"/>
                </a:solidFill>
              </a:rPr>
              <a:t>Correlates Events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53872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Connects related anomalies across services to show the full impact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97764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2CA6"/>
                </a:solidFill>
              </a:rPr>
              <a:t>Creates Insights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22452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Generates alerts with context: what changed, when, and which services are affected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Watchdog Insight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FFB02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88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⚠ Watchdog Alert: Anomaly Detected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Service: </a:t>
            </a:r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</a:rPr>
              <a:t>payment-service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Issue: </a:t>
            </a:r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</a:rPr>
              <a:t>Error rate increased from 0.2% to 15.3%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468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Started: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Today at 10:03 AM (5 minutes ago)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834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Impact: </a:t>
            </a:r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</a:rPr>
              <a:t>checkout-service, order-service also showing elevated errors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Potential Cause: </a:t>
            </a:r>
            <a:pPr indent="0" marL="0">
              <a:buNone/>
            </a:pPr>
            <a:r>
              <a:rPr lang="en-US" sz="1400" dirty="0">
                <a:solidFill>
                  <a:srgbClr val="FFB020"/>
                </a:solidFill>
              </a:rPr>
              <a:t>Recent deployment to payment-service-v2.1.3 at 09:55 AM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2CA6"/>
                </a:solidFill>
              </a:rPr>
              <a:t>Recommendation: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Roll back to payment-service-v2.1.2 and investigate logs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Service Map + Watchdog = Powerful Combo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solidFill>
            <a:srgbClr val="632C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371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2CA6"/>
                </a:solidFill>
              </a:rPr>
              <a:t>Service Map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514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Shows WHERE problems 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Visual dependency graph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976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2CA6"/>
                </a:solidFill>
              </a:rPr>
              <a:t>+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4572000" y="1188720"/>
            <a:ext cx="4114800" cy="1645920"/>
          </a:xfrm>
          <a:prstGeom prst="rect">
            <a:avLst/>
          </a:prstGeom>
          <a:solidFill>
            <a:srgbClr val="FFB02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2CA6"/>
                </a:solidFill>
              </a:rPr>
              <a:t>Watchdog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754880" y="2514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Shows WHAT changed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AI-powered detection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206240" y="2926080"/>
            <a:ext cx="731520" cy="548640"/>
          </a:xfrm>
          <a:prstGeom prst="downArrow">
            <a:avLst/>
          </a:prstGeom>
          <a:solidFill>
            <a:srgbClr val="10B981"/>
          </a:solidFill>
          <a:ln/>
        </p:spPr>
      </p:sp>
      <p:sp>
        <p:nvSpPr>
          <p:cNvPr id="13" name="Shape 9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0"/>
          <p:cNvSpPr/>
          <p:nvPr/>
        </p:nvSpPr>
        <p:spPr>
          <a:xfrm>
            <a:off x="1554480" y="37490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= Complete picture of incidents with root cause identification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Your Incident Response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6B6B"/>
                </a:solidFill>
              </a:rPr>
              <a:t>When you get paged at 3 AM: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2CA6"/>
                </a:solidFill>
              </a:rPr>
              <a:t>1. Check Watchdog Alerts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8720" y="17556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What anomalies were detected? When did they start?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148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2CA6"/>
                </a:solidFill>
              </a:rPr>
              <a:t>2. Open Service Map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88720" y="23957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Find the red nodes. Are they upstream or downstream?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346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2CA6"/>
                </a:solidFill>
              </a:rPr>
              <a:t>3. Identify Root Cause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88720" y="30358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Which service failed first? What dependencies are affected?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747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429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2CA6"/>
                </a:solidFill>
              </a:rPr>
              <a:t>4. Check Metrics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188720" y="36758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Error rates? Latency? Recent deployments?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148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2CA6"/>
                </a:solidFill>
              </a:rPr>
              <a:t>5. Take Action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188720" y="4315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Rollback? Scale up? Contact service owner?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632C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Key Takeaways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3017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554480"/>
            <a:ext cx="6766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</a:rPr>
              <a:t>1. Service Map visualizes your microservice architecture in real-time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 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</a:rPr>
              <a:t>2. Upstream = who calls you | Downstream = who you call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 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</a:rPr>
              <a:t>3. Red nodes = problems, follow the arrows to find root cause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 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</a:rPr>
              <a:t>4. Monitor error rates, latency (p50/p95/p99), and anomalies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 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</a:rPr>
              <a:t>5. Watchdog automatically detects problems and provides context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 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293B"/>
                </a:solidFill>
              </a:rPr>
              <a:t>6. Together, they give you the complete picture for incident response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2CA6"/>
                </a:solidFill>
              </a:rPr>
              <a:t>Practice Makes Perfect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6400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3258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The best way to learn is by doing!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2CA6"/>
                </a:solidFill>
              </a:rPr>
              <a:t>Next Steps: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93B"/>
                </a:solidFill>
              </a:rPr>
              <a:t>1. Explore your Service Map in Datadog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Navigate to APM → Service Map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93B"/>
                </a:solidFill>
              </a:rPr>
              <a:t>2. Click on different services to see their dependencies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Look at upstream and downstream relationships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93B"/>
                </a:solidFill>
              </a:rPr>
              <a:t>3. Check the Watchdog tab for any active insights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See what anomalies Watchdog has detected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93B"/>
                </a:solidFill>
              </a:rPr>
              <a:t>4. Simulate a failure in your test environment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Practice identifying the root cause using Service Map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632C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C9A7"/>
                </a:solidFill>
              </a:rPr>
              <a:t>Let's discuss Service Map and Watchdog!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Datadog Service Map - Beginner Guide</dc:title>
  <dc:subject>PptxGenJS Presentation</dc:subject>
  <dc:creator>Datadog Training</dc:creator>
  <cp:lastModifiedBy>Datadog Training</cp:lastModifiedBy>
  <cp:revision>1</cp:revision>
  <dcterms:created xsi:type="dcterms:W3CDTF">2026-02-17T02:02:08Z</dcterms:created>
  <dcterms:modified xsi:type="dcterms:W3CDTF">2026-02-17T02:02:08Z</dcterms:modified>
</cp:coreProperties>
</file>