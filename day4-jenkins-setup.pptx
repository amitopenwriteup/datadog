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76"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2076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1"/>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731520"/>
          </a:xfrm>
          <a:prstGeom prst="rect">
            <a:avLst/>
          </a:prstGeom>
          <a:noFill/>
          <a:ln/>
        </p:spPr>
        <p:txBody>
          <a:bodyPr wrap="square" rtlCol="0" anchor="ctr"/>
          <a:lstStyle/>
          <a:p>
            <a:pPr marL="0" indent="0" algn="ctr">
              <a:buNone/>
            </a:pPr>
            <a:r>
              <a:rPr lang="en-US" sz="5200" b="1" dirty="0">
                <a:solidFill>
                  <a:srgbClr val="FFFFFF"/>
                </a:solidFill>
                <a:latin typeface="Arial Black" pitchFamily="34" charset="0"/>
                <a:ea typeface="Arial Black" pitchFamily="34" charset="-122"/>
                <a:cs typeface="Arial Black" pitchFamily="34" charset="-120"/>
              </a:rPr>
              <a:t>Jenkins Installation</a:t>
            </a:r>
            <a:endParaRPr lang="en-US" sz="5200" dirty="0"/>
          </a:p>
        </p:txBody>
      </p:sp>
      <p:sp>
        <p:nvSpPr>
          <p:cNvPr id="3" name="Text 1"/>
          <p:cNvSpPr/>
          <p:nvPr/>
        </p:nvSpPr>
        <p:spPr>
          <a:xfrm>
            <a:off x="457200" y="2468880"/>
            <a:ext cx="8229600" cy="548640"/>
          </a:xfrm>
          <a:prstGeom prst="rect">
            <a:avLst/>
          </a:prstGeom>
          <a:noFill/>
          <a:ln/>
        </p:spPr>
        <p:txBody>
          <a:bodyPr wrap="square" rtlCol="0" anchor="ctr"/>
          <a:lstStyle/>
          <a:p>
            <a:pPr marL="0" indent="0" algn="ctr">
              <a:buNone/>
            </a:pPr>
            <a:r>
              <a:rPr lang="en-US" sz="3600" dirty="0">
                <a:solidFill>
                  <a:srgbClr val="F0D6B7"/>
                </a:solidFill>
                <a:latin typeface="Arial" pitchFamily="34" charset="0"/>
                <a:ea typeface="Arial" pitchFamily="34" charset="-122"/>
                <a:cs typeface="Arial" pitchFamily="34" charset="-120"/>
              </a:rPr>
              <a:t>Debian/Ubuntu Linux Setup Guide</a:t>
            </a:r>
            <a:endParaRPr lang="en-US" sz="3600" dirty="0"/>
          </a:p>
        </p:txBody>
      </p:sp>
      <p:sp>
        <p:nvSpPr>
          <p:cNvPr id="4" name="Text 2"/>
          <p:cNvSpPr/>
          <p:nvPr/>
        </p:nvSpPr>
        <p:spPr>
          <a:xfrm>
            <a:off x="457200" y="3200400"/>
            <a:ext cx="8229600" cy="36576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Complete Installation &amp; Configuration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800" b="1" dirty="0">
                <a:solidFill>
                  <a:srgbClr val="D33833"/>
                </a:solidFill>
                <a:latin typeface="Arial Black" pitchFamily="34" charset="0"/>
                <a:ea typeface="Arial Black" pitchFamily="34" charset="-122"/>
                <a:cs typeface="Arial Black" pitchFamily="34" charset="-120"/>
              </a:rPr>
              <a:t>Prerequisites</a:t>
            </a:r>
            <a:endParaRPr lang="en-US" sz="3800" dirty="0"/>
          </a:p>
        </p:txBody>
      </p:sp>
      <p:sp>
        <p:nvSpPr>
          <p:cNvPr id="3" name="Shape 1"/>
          <p:cNvSpPr/>
          <p:nvPr/>
        </p:nvSpPr>
        <p:spPr>
          <a:xfrm>
            <a:off x="457200" y="1097280"/>
            <a:ext cx="4023360" cy="1645920"/>
          </a:xfrm>
          <a:prstGeom prst="rect">
            <a:avLst/>
          </a:prstGeom>
          <a:solidFill>
            <a:srgbClr val="F3F4F6"/>
          </a:solidFill>
          <a:ln/>
          <a:effectLst>
            <a:outerShdw blurRad="76200" dist="25400" dir="8100000" algn="bl" rotWithShape="0">
              <a:srgbClr val="000000">
                <a:alpha val="15000"/>
              </a:srgbClr>
            </a:outerShdw>
          </a:effectLst>
        </p:spPr>
      </p:sp>
      <p:sp>
        <p:nvSpPr>
          <p:cNvPr id="4" name="Shape 2"/>
          <p:cNvSpPr/>
          <p:nvPr/>
        </p:nvSpPr>
        <p:spPr>
          <a:xfrm>
            <a:off x="457200" y="1097280"/>
            <a:ext cx="73152" cy="1645920"/>
          </a:xfrm>
          <a:prstGeom prst="rect">
            <a:avLst/>
          </a:prstGeom>
          <a:solidFill>
            <a:srgbClr val="D33833"/>
          </a:solidFill>
          <a:ln/>
        </p:spPr>
      </p:sp>
      <p:sp>
        <p:nvSpPr>
          <p:cNvPr id="5" name="Text 3"/>
          <p:cNvSpPr/>
          <p:nvPr/>
        </p:nvSpPr>
        <p:spPr>
          <a:xfrm>
            <a:off x="731520" y="1234440"/>
            <a:ext cx="3657600" cy="320040"/>
          </a:xfrm>
          <a:prstGeom prst="rect">
            <a:avLst/>
          </a:prstGeom>
          <a:noFill/>
          <a:ln/>
        </p:spPr>
        <p:txBody>
          <a:bodyPr wrap="square" rtlCol="0" anchor="ctr"/>
          <a:lstStyle/>
          <a:p>
            <a:pPr marL="0" indent="0">
              <a:buNone/>
            </a:pPr>
            <a:r>
              <a:rPr lang="en-US" sz="2000" b="1" dirty="0">
                <a:solidFill>
                  <a:srgbClr val="1F2937"/>
                </a:solidFill>
                <a:latin typeface="Arial" pitchFamily="34" charset="0"/>
                <a:ea typeface="Arial" pitchFamily="34" charset="-122"/>
                <a:cs typeface="Arial" pitchFamily="34" charset="-120"/>
              </a:rPr>
              <a:t>Hardware Requirements</a:t>
            </a:r>
            <a:endParaRPr lang="en-US" sz="2000" dirty="0"/>
          </a:p>
        </p:txBody>
      </p:sp>
      <p:sp>
        <p:nvSpPr>
          <p:cNvPr id="6" name="Text 4"/>
          <p:cNvSpPr/>
          <p:nvPr/>
        </p:nvSpPr>
        <p:spPr>
          <a:xfrm>
            <a:off x="731520" y="1600200"/>
            <a:ext cx="3657600" cy="1005840"/>
          </a:xfrm>
          <a:prstGeom prst="rect">
            <a:avLst/>
          </a:prstGeom>
          <a:noFill/>
          <a:ln/>
        </p:spPr>
        <p:txBody>
          <a:bodyPr wrap="square" rtlCol="0" anchor="ctr"/>
          <a:lstStyle/>
          <a:p>
            <a:pPr marL="0" indent="0">
              <a:buNone/>
            </a:pPr>
            <a:r>
              <a:rPr lang="en-US" sz="1300" b="1" dirty="0">
                <a:solidFill>
                  <a:srgbClr val="6B7280"/>
                </a:solidFill>
                <a:latin typeface="Calibri" pitchFamily="34" charset="0"/>
                <a:ea typeface="Calibri" pitchFamily="34" charset="-122"/>
                <a:cs typeface="Calibri" pitchFamily="34" charset="-120"/>
              </a:rPr>
              <a:t>Minimum:</a:t>
            </a:r>
            <a:endParaRPr lang="en-US" sz="1300" dirty="0"/>
          </a:p>
          <a:p>
            <a:pPr marL="0" indent="0">
              <a:buNone/>
            </a:pPr>
            <a:r>
              <a:rPr lang="en-US" sz="1200" dirty="0">
                <a:solidFill>
                  <a:srgbClr val="6B7280"/>
                </a:solidFill>
                <a:latin typeface="Calibri" pitchFamily="34" charset="0"/>
                <a:ea typeface="Calibri" pitchFamily="34" charset="-122"/>
                <a:cs typeface="Calibri" pitchFamily="34" charset="-120"/>
              </a:rPr>
              <a:t>• 256 MB RAM</a:t>
            </a:r>
            <a:endParaRPr lang="en-US" sz="1300" dirty="0"/>
          </a:p>
          <a:p>
            <a:pPr marL="0" indent="0">
              <a:buNone/>
            </a:pPr>
            <a:r>
              <a:rPr lang="en-US" sz="1200" dirty="0">
                <a:solidFill>
                  <a:srgbClr val="6B7280"/>
                </a:solidFill>
                <a:latin typeface="Calibri" pitchFamily="34" charset="0"/>
                <a:ea typeface="Calibri" pitchFamily="34" charset="-122"/>
                <a:cs typeface="Calibri" pitchFamily="34" charset="-120"/>
              </a:rPr>
              <a:t>• 1 GB disk space</a:t>
            </a:r>
            <a:endParaRPr lang="en-US" sz="1300" dirty="0"/>
          </a:p>
          <a:p>
            <a:pPr marL="0" indent="0">
              <a:buNone/>
            </a:pPr>
            <a:r>
              <a:rPr lang="en-US" sz="1300" b="1" dirty="0">
                <a:solidFill>
                  <a:srgbClr val="6B7280"/>
                </a:solidFill>
                <a:latin typeface="Calibri" pitchFamily="34" charset="0"/>
                <a:ea typeface="Calibri" pitchFamily="34" charset="-122"/>
                <a:cs typeface="Calibri" pitchFamily="34" charset="-120"/>
              </a:rPr>
              <a:t>Recommended (Small Team):</a:t>
            </a:r>
            <a:endParaRPr lang="en-US" sz="1300" dirty="0"/>
          </a:p>
          <a:p>
            <a:pPr marL="0" indent="0">
              <a:buNone/>
            </a:pPr>
            <a:r>
              <a:rPr lang="en-US" sz="1200" dirty="0">
                <a:solidFill>
                  <a:srgbClr val="6B7280"/>
                </a:solidFill>
                <a:latin typeface="Calibri" pitchFamily="34" charset="0"/>
                <a:ea typeface="Calibri" pitchFamily="34" charset="-122"/>
                <a:cs typeface="Calibri" pitchFamily="34" charset="-120"/>
              </a:rPr>
              <a:t>• 4 GB+ RAM</a:t>
            </a:r>
            <a:endParaRPr lang="en-US" sz="1300" dirty="0"/>
          </a:p>
          <a:p>
            <a:pPr marL="0" indent="0">
              <a:buNone/>
            </a:pPr>
            <a:r>
              <a:rPr lang="en-US" sz="1200" dirty="0">
                <a:solidFill>
                  <a:srgbClr val="6B7280"/>
                </a:solidFill>
                <a:latin typeface="Calibri" pitchFamily="34" charset="0"/>
                <a:ea typeface="Calibri" pitchFamily="34" charset="-122"/>
                <a:cs typeface="Calibri" pitchFamily="34" charset="-120"/>
              </a:rPr>
              <a:t>• 50 GB+ disk space</a:t>
            </a:r>
            <a:endParaRPr lang="en-US" sz="1300" dirty="0"/>
          </a:p>
        </p:txBody>
      </p:sp>
      <p:sp>
        <p:nvSpPr>
          <p:cNvPr id="7" name="Shape 5"/>
          <p:cNvSpPr/>
          <p:nvPr/>
        </p:nvSpPr>
        <p:spPr>
          <a:xfrm>
            <a:off x="4663440" y="1097280"/>
            <a:ext cx="4023360" cy="1645920"/>
          </a:xfrm>
          <a:prstGeom prst="rect">
            <a:avLst/>
          </a:prstGeom>
          <a:solidFill>
            <a:srgbClr val="F3F4F6"/>
          </a:solidFill>
          <a:ln/>
          <a:effectLst>
            <a:outerShdw blurRad="76200" dist="25400" dir="8100000" algn="bl" rotWithShape="0">
              <a:srgbClr val="000000">
                <a:alpha val="15000"/>
              </a:srgbClr>
            </a:outerShdw>
          </a:effectLst>
        </p:spPr>
      </p:sp>
      <p:sp>
        <p:nvSpPr>
          <p:cNvPr id="8" name="Shape 6"/>
          <p:cNvSpPr/>
          <p:nvPr/>
        </p:nvSpPr>
        <p:spPr>
          <a:xfrm>
            <a:off x="4663440" y="1097280"/>
            <a:ext cx="73152" cy="1645920"/>
          </a:xfrm>
          <a:prstGeom prst="rect">
            <a:avLst/>
          </a:prstGeom>
          <a:solidFill>
            <a:srgbClr val="335061"/>
          </a:solidFill>
          <a:ln/>
        </p:spPr>
      </p:sp>
      <p:sp>
        <p:nvSpPr>
          <p:cNvPr id="9" name="Text 7"/>
          <p:cNvSpPr/>
          <p:nvPr/>
        </p:nvSpPr>
        <p:spPr>
          <a:xfrm>
            <a:off x="4937760" y="1234440"/>
            <a:ext cx="3657600" cy="320040"/>
          </a:xfrm>
          <a:prstGeom prst="rect">
            <a:avLst/>
          </a:prstGeom>
          <a:noFill/>
          <a:ln/>
        </p:spPr>
        <p:txBody>
          <a:bodyPr wrap="square" rtlCol="0" anchor="ctr"/>
          <a:lstStyle/>
          <a:p>
            <a:pPr marL="0" indent="0">
              <a:buNone/>
            </a:pPr>
            <a:r>
              <a:rPr lang="en-US" sz="2000" b="1" dirty="0">
                <a:solidFill>
                  <a:srgbClr val="1F2937"/>
                </a:solidFill>
                <a:latin typeface="Arial" pitchFamily="34" charset="0"/>
                <a:ea typeface="Arial" pitchFamily="34" charset="-122"/>
                <a:cs typeface="Arial" pitchFamily="34" charset="-120"/>
              </a:rPr>
              <a:t>Software Requirements</a:t>
            </a:r>
            <a:endParaRPr lang="en-US" sz="2000" dirty="0"/>
          </a:p>
        </p:txBody>
      </p:sp>
      <p:sp>
        <p:nvSpPr>
          <p:cNvPr id="10" name="Text 8"/>
          <p:cNvSpPr/>
          <p:nvPr/>
        </p:nvSpPr>
        <p:spPr>
          <a:xfrm>
            <a:off x="4937760" y="1600200"/>
            <a:ext cx="3657600" cy="100584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 Java 21 or later</a:t>
            </a:r>
            <a:endParaRPr lang="en-US" sz="1300" dirty="0"/>
          </a:p>
          <a:p>
            <a:pPr marL="0" indent="0">
              <a:buNone/>
            </a:pPr>
            <a:r>
              <a:rPr lang="en-US" sz="1300" dirty="0">
                <a:solidFill>
                  <a:srgbClr val="6B7280"/>
                </a:solidFill>
                <a:latin typeface="Calibri" pitchFamily="34" charset="0"/>
                <a:ea typeface="Calibri" pitchFamily="34" charset="-122"/>
                <a:cs typeface="Calibri" pitchFamily="34" charset="-120"/>
              </a:rPr>
              <a:t>• Web browser (modern)</a:t>
            </a:r>
            <a:endParaRPr lang="en-US" sz="1300" dirty="0"/>
          </a:p>
          <a:p>
            <a:pPr marL="0" indent="0">
              <a:buNone/>
            </a:pPr>
            <a:r>
              <a:rPr lang="en-US" sz="1300" dirty="0">
                <a:solidFill>
                  <a:srgbClr val="6B7280"/>
                </a:solidFill>
                <a:latin typeface="Calibri" pitchFamily="34" charset="0"/>
                <a:ea typeface="Calibri" pitchFamily="34" charset="-122"/>
                <a:cs typeface="Calibri" pitchFamily="34" charset="-120"/>
              </a:rPr>
              <a:t>• Debian/Ubuntu OS</a:t>
            </a:r>
            <a:endParaRPr lang="en-US" sz="1300" dirty="0"/>
          </a:p>
          <a:p>
            <a:pPr marL="0" indent="0">
              <a:buNone/>
            </a:pPr>
            <a:r>
              <a:rPr lang="en-US" sz="1300" dirty="0">
                <a:solidFill>
                  <a:srgbClr val="6B7280"/>
                </a:solidFill>
                <a:latin typeface="Calibri" pitchFamily="34" charset="0"/>
                <a:ea typeface="Calibri" pitchFamily="34" charset="-122"/>
                <a:cs typeface="Calibri" pitchFamily="34" charset="-120"/>
              </a:rPr>
              <a:t>• Internet connection</a:t>
            </a:r>
            <a:endParaRPr lang="en-US" sz="1300" dirty="0"/>
          </a:p>
          <a:p>
            <a:pPr marL="0" indent="0">
              <a:buNone/>
            </a:pPr>
            <a:r>
              <a:rPr lang="en-US" sz="1300" dirty="0">
                <a:solidFill>
                  <a:srgbClr val="6B7280"/>
                </a:solidFill>
                <a:latin typeface="Calibri" pitchFamily="34" charset="0"/>
                <a:ea typeface="Calibri" pitchFamily="34" charset="-122"/>
                <a:cs typeface="Calibri" pitchFamily="34" charset="-120"/>
              </a:rPr>
              <a:t>• sudo privileges</a:t>
            </a:r>
            <a:endParaRPr lang="en-US" sz="1300" dirty="0"/>
          </a:p>
        </p:txBody>
      </p:sp>
      <p:sp>
        <p:nvSpPr>
          <p:cNvPr id="11" name="Shape 9"/>
          <p:cNvSpPr/>
          <p:nvPr/>
        </p:nvSpPr>
        <p:spPr>
          <a:xfrm>
            <a:off x="457200" y="3017520"/>
            <a:ext cx="8229600" cy="1645920"/>
          </a:xfrm>
          <a:prstGeom prst="rect">
            <a:avLst/>
          </a:prstGeom>
          <a:solidFill>
            <a:srgbClr val="FEF3C7"/>
          </a:solidFill>
          <a:ln w="25400">
            <a:solidFill>
              <a:srgbClr val="F59E0B"/>
            </a:solidFill>
            <a:prstDash val="solid"/>
          </a:ln>
        </p:spPr>
      </p:sp>
      <p:sp>
        <p:nvSpPr>
          <p:cNvPr id="12" name="Text 10"/>
          <p:cNvSpPr/>
          <p:nvPr/>
        </p:nvSpPr>
        <p:spPr>
          <a:xfrm>
            <a:off x="731520" y="3200400"/>
            <a:ext cx="7680960" cy="274320"/>
          </a:xfrm>
          <a:prstGeom prst="rect">
            <a:avLst/>
          </a:prstGeom>
          <a:noFill/>
          <a:ln/>
        </p:spPr>
        <p:txBody>
          <a:bodyPr wrap="square" rtlCol="0" anchor="ctr"/>
          <a:lstStyle/>
          <a:p>
            <a:pPr marL="0" indent="0">
              <a:buNone/>
            </a:pPr>
            <a:r>
              <a:rPr lang="en-US" sz="1800" b="1" dirty="0">
                <a:solidFill>
                  <a:srgbClr val="1F2937"/>
                </a:solidFill>
                <a:latin typeface="Arial" pitchFamily="34" charset="0"/>
                <a:ea typeface="Arial" pitchFamily="34" charset="-122"/>
                <a:cs typeface="Arial" pitchFamily="34" charset="-120"/>
              </a:rPr>
              <a:t>⚠️  Important Note</a:t>
            </a:r>
            <a:endParaRPr lang="en-US" sz="1800" dirty="0"/>
          </a:p>
        </p:txBody>
      </p:sp>
      <p:sp>
        <p:nvSpPr>
          <p:cNvPr id="13" name="Text 11"/>
          <p:cNvSpPr/>
          <p:nvPr/>
        </p:nvSpPr>
        <p:spPr>
          <a:xfrm>
            <a:off x="731520" y="3520440"/>
            <a:ext cx="7680960" cy="9144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On Debian/Ubuntu, install Java BEFORE Jenkins. If Jenkins is installed first and Java is added later, the Jenkins service may fail to start. Installing Java first ensures the environment is fully initialized and avoids startup issues.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800" b="1" dirty="0">
                <a:solidFill>
                  <a:srgbClr val="D33833"/>
                </a:solidFill>
                <a:latin typeface="Arial Black" pitchFamily="34" charset="0"/>
                <a:ea typeface="Arial Black" pitchFamily="34" charset="-122"/>
                <a:cs typeface="Arial Black" pitchFamily="34" charset="-120"/>
              </a:rPr>
              <a:t>Step 1: Install Java</a:t>
            </a:r>
            <a:endParaRPr lang="en-US" sz="3800" dirty="0"/>
          </a:p>
        </p:txBody>
      </p:sp>
      <p:sp>
        <p:nvSpPr>
          <p:cNvPr id="3" name="Text 1"/>
          <p:cNvSpPr/>
          <p:nvPr/>
        </p:nvSpPr>
        <p:spPr>
          <a:xfrm>
            <a:off x="457200" y="960120"/>
            <a:ext cx="8229600" cy="27432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Jenkins requires Java 21 or later. We'll install OpenJDK 21.</a:t>
            </a:r>
            <a:endParaRPr lang="en-US" sz="1400" dirty="0"/>
          </a:p>
        </p:txBody>
      </p:sp>
      <p:sp>
        <p:nvSpPr>
          <p:cNvPr id="4" name="Shape 2"/>
          <p:cNvSpPr/>
          <p:nvPr/>
        </p:nvSpPr>
        <p:spPr>
          <a:xfrm>
            <a:off x="640080" y="1481328"/>
            <a:ext cx="365760" cy="365760"/>
          </a:xfrm>
          <a:prstGeom prst="ellipse">
            <a:avLst/>
          </a:prstGeom>
          <a:solidFill>
            <a:srgbClr val="D33833"/>
          </a:solidFill>
          <a:ln/>
        </p:spPr>
      </p:sp>
      <p:sp>
        <p:nvSpPr>
          <p:cNvPr id="5" name="Text 3"/>
          <p:cNvSpPr/>
          <p:nvPr/>
        </p:nvSpPr>
        <p:spPr>
          <a:xfrm>
            <a:off x="640080" y="1481328"/>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6" name="Text 4"/>
          <p:cNvSpPr/>
          <p:nvPr/>
        </p:nvSpPr>
        <p:spPr>
          <a:xfrm>
            <a:off x="1188720" y="1444752"/>
            <a:ext cx="7315200" cy="274320"/>
          </a:xfrm>
          <a:prstGeom prst="rect">
            <a:avLst/>
          </a:prstGeom>
          <a:noFill/>
          <a:ln/>
        </p:spPr>
        <p:txBody>
          <a:bodyPr wrap="square" rtlCol="0" anchor="ctr"/>
          <a:lstStyle/>
          <a:p>
            <a:pPr marL="0" indent="0">
              <a:buNone/>
            </a:pPr>
            <a:r>
              <a:rPr lang="en-US" sz="1600" b="1" dirty="0">
                <a:solidFill>
                  <a:srgbClr val="1F2937"/>
                </a:solidFill>
                <a:latin typeface="Arial" pitchFamily="34" charset="0"/>
                <a:ea typeface="Arial" pitchFamily="34" charset="-122"/>
                <a:cs typeface="Arial" pitchFamily="34" charset="-120"/>
              </a:rPr>
              <a:t>Update system packages</a:t>
            </a:r>
            <a:endParaRPr lang="en-US" sz="1600" dirty="0"/>
          </a:p>
        </p:txBody>
      </p:sp>
      <p:sp>
        <p:nvSpPr>
          <p:cNvPr id="7" name="Shape 5"/>
          <p:cNvSpPr/>
          <p:nvPr/>
        </p:nvSpPr>
        <p:spPr>
          <a:xfrm>
            <a:off x="1188720" y="1755648"/>
            <a:ext cx="7315200" cy="411480"/>
          </a:xfrm>
          <a:prstGeom prst="rect">
            <a:avLst/>
          </a:prstGeom>
          <a:solidFill>
            <a:srgbClr val="1F2937"/>
          </a:solidFill>
          <a:ln/>
        </p:spPr>
      </p:sp>
      <p:sp>
        <p:nvSpPr>
          <p:cNvPr id="8" name="Text 6"/>
          <p:cNvSpPr/>
          <p:nvPr/>
        </p:nvSpPr>
        <p:spPr>
          <a:xfrm>
            <a:off x="1371600" y="1828800"/>
            <a:ext cx="6949440" cy="274320"/>
          </a:xfrm>
          <a:prstGeom prst="rect">
            <a:avLst/>
          </a:prstGeom>
          <a:noFill/>
          <a:ln/>
        </p:spPr>
        <p:txBody>
          <a:bodyPr wrap="square" rtlCol="0" anchor="ctr"/>
          <a:lstStyle/>
          <a:p>
            <a:pPr marL="0" indent="0">
              <a:buNone/>
            </a:pPr>
            <a:r>
              <a:rPr lang="en-US" sz="1200" dirty="0">
                <a:solidFill>
                  <a:srgbClr val="10B981"/>
                </a:solidFill>
                <a:latin typeface="Consolas" pitchFamily="34" charset="0"/>
                <a:ea typeface="Consolas" pitchFamily="34" charset="-122"/>
                <a:cs typeface="Consolas" pitchFamily="34" charset="-120"/>
              </a:rPr>
              <a:t>sudo apt update</a:t>
            </a:r>
            <a:endParaRPr lang="en-US" sz="1200" dirty="0"/>
          </a:p>
        </p:txBody>
      </p:sp>
      <p:sp>
        <p:nvSpPr>
          <p:cNvPr id="9" name="Shape 7"/>
          <p:cNvSpPr/>
          <p:nvPr/>
        </p:nvSpPr>
        <p:spPr>
          <a:xfrm>
            <a:off x="640080" y="2304288"/>
            <a:ext cx="365760" cy="365760"/>
          </a:xfrm>
          <a:prstGeom prst="ellipse">
            <a:avLst/>
          </a:prstGeom>
          <a:solidFill>
            <a:srgbClr val="335061"/>
          </a:solidFill>
          <a:ln/>
        </p:spPr>
      </p:sp>
      <p:sp>
        <p:nvSpPr>
          <p:cNvPr id="10" name="Text 8"/>
          <p:cNvSpPr/>
          <p:nvPr/>
        </p:nvSpPr>
        <p:spPr>
          <a:xfrm>
            <a:off x="640080" y="2304288"/>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1" name="Text 9"/>
          <p:cNvSpPr/>
          <p:nvPr/>
        </p:nvSpPr>
        <p:spPr>
          <a:xfrm>
            <a:off x="1188720" y="2267712"/>
            <a:ext cx="7315200" cy="274320"/>
          </a:xfrm>
          <a:prstGeom prst="rect">
            <a:avLst/>
          </a:prstGeom>
          <a:noFill/>
          <a:ln/>
        </p:spPr>
        <p:txBody>
          <a:bodyPr wrap="square" rtlCol="0" anchor="ctr"/>
          <a:lstStyle/>
          <a:p>
            <a:pPr marL="0" indent="0">
              <a:buNone/>
            </a:pPr>
            <a:r>
              <a:rPr lang="en-US" sz="1600" b="1" dirty="0">
                <a:solidFill>
                  <a:srgbClr val="1F2937"/>
                </a:solidFill>
                <a:latin typeface="Arial" pitchFamily="34" charset="0"/>
                <a:ea typeface="Arial" pitchFamily="34" charset="-122"/>
                <a:cs typeface="Arial" pitchFamily="34" charset="-120"/>
              </a:rPr>
              <a:t>Install OpenJDK 21</a:t>
            </a:r>
            <a:endParaRPr lang="en-US" sz="1600" dirty="0"/>
          </a:p>
        </p:txBody>
      </p:sp>
      <p:sp>
        <p:nvSpPr>
          <p:cNvPr id="12" name="Shape 10"/>
          <p:cNvSpPr/>
          <p:nvPr/>
        </p:nvSpPr>
        <p:spPr>
          <a:xfrm>
            <a:off x="1188720" y="2578608"/>
            <a:ext cx="7315200" cy="411480"/>
          </a:xfrm>
          <a:prstGeom prst="rect">
            <a:avLst/>
          </a:prstGeom>
          <a:solidFill>
            <a:srgbClr val="1F2937"/>
          </a:solidFill>
          <a:ln/>
        </p:spPr>
      </p:sp>
      <p:sp>
        <p:nvSpPr>
          <p:cNvPr id="13" name="Text 11"/>
          <p:cNvSpPr/>
          <p:nvPr/>
        </p:nvSpPr>
        <p:spPr>
          <a:xfrm>
            <a:off x="1371600" y="2651760"/>
            <a:ext cx="6949440" cy="274320"/>
          </a:xfrm>
          <a:prstGeom prst="rect">
            <a:avLst/>
          </a:prstGeom>
          <a:noFill/>
          <a:ln/>
        </p:spPr>
        <p:txBody>
          <a:bodyPr wrap="square" rtlCol="0" anchor="ctr"/>
          <a:lstStyle/>
          <a:p>
            <a:pPr marL="0" indent="0">
              <a:buNone/>
            </a:pPr>
            <a:r>
              <a:rPr lang="en-US" sz="1200" dirty="0">
                <a:solidFill>
                  <a:srgbClr val="10B981"/>
                </a:solidFill>
                <a:latin typeface="Consolas" pitchFamily="34" charset="0"/>
                <a:ea typeface="Consolas" pitchFamily="34" charset="-122"/>
                <a:cs typeface="Consolas" pitchFamily="34" charset="-120"/>
              </a:rPr>
              <a:t>sudo apt install fontconfig openjdk-21-jre</a:t>
            </a:r>
            <a:endParaRPr lang="en-US" sz="1200" dirty="0"/>
          </a:p>
        </p:txBody>
      </p:sp>
      <p:sp>
        <p:nvSpPr>
          <p:cNvPr id="14" name="Shape 12"/>
          <p:cNvSpPr/>
          <p:nvPr/>
        </p:nvSpPr>
        <p:spPr>
          <a:xfrm>
            <a:off x="640080" y="3127248"/>
            <a:ext cx="365760" cy="365760"/>
          </a:xfrm>
          <a:prstGeom prst="ellipse">
            <a:avLst/>
          </a:prstGeom>
          <a:solidFill>
            <a:srgbClr val="10B981"/>
          </a:solidFill>
          <a:ln/>
        </p:spPr>
      </p:sp>
      <p:sp>
        <p:nvSpPr>
          <p:cNvPr id="15" name="Text 13"/>
          <p:cNvSpPr/>
          <p:nvPr/>
        </p:nvSpPr>
        <p:spPr>
          <a:xfrm>
            <a:off x="640080" y="3127248"/>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16" name="Text 14"/>
          <p:cNvSpPr/>
          <p:nvPr/>
        </p:nvSpPr>
        <p:spPr>
          <a:xfrm>
            <a:off x="1188720" y="3090672"/>
            <a:ext cx="7315200" cy="274320"/>
          </a:xfrm>
          <a:prstGeom prst="rect">
            <a:avLst/>
          </a:prstGeom>
          <a:noFill/>
          <a:ln/>
        </p:spPr>
        <p:txBody>
          <a:bodyPr wrap="square" rtlCol="0" anchor="ctr"/>
          <a:lstStyle/>
          <a:p>
            <a:pPr marL="0" indent="0">
              <a:buNone/>
            </a:pPr>
            <a:r>
              <a:rPr lang="en-US" sz="1600" b="1" dirty="0">
                <a:solidFill>
                  <a:srgbClr val="1F2937"/>
                </a:solidFill>
                <a:latin typeface="Arial" pitchFamily="34" charset="0"/>
                <a:ea typeface="Arial" pitchFamily="34" charset="-122"/>
                <a:cs typeface="Arial" pitchFamily="34" charset="-120"/>
              </a:rPr>
              <a:t>Verify installation</a:t>
            </a:r>
            <a:endParaRPr lang="en-US" sz="1600" dirty="0"/>
          </a:p>
        </p:txBody>
      </p:sp>
      <p:sp>
        <p:nvSpPr>
          <p:cNvPr id="17" name="Shape 15"/>
          <p:cNvSpPr/>
          <p:nvPr/>
        </p:nvSpPr>
        <p:spPr>
          <a:xfrm>
            <a:off x="1188720" y="3401568"/>
            <a:ext cx="7315200" cy="411480"/>
          </a:xfrm>
          <a:prstGeom prst="rect">
            <a:avLst/>
          </a:prstGeom>
          <a:solidFill>
            <a:srgbClr val="1F2937"/>
          </a:solidFill>
          <a:ln/>
        </p:spPr>
      </p:sp>
      <p:sp>
        <p:nvSpPr>
          <p:cNvPr id="18" name="Text 16"/>
          <p:cNvSpPr/>
          <p:nvPr/>
        </p:nvSpPr>
        <p:spPr>
          <a:xfrm>
            <a:off x="1371600" y="3474720"/>
            <a:ext cx="6949440" cy="274320"/>
          </a:xfrm>
          <a:prstGeom prst="rect">
            <a:avLst/>
          </a:prstGeom>
          <a:noFill/>
          <a:ln/>
        </p:spPr>
        <p:txBody>
          <a:bodyPr wrap="square" rtlCol="0" anchor="ctr"/>
          <a:lstStyle/>
          <a:p>
            <a:pPr marL="0" indent="0">
              <a:buNone/>
            </a:pPr>
            <a:r>
              <a:rPr lang="en-US" sz="1200" dirty="0">
                <a:solidFill>
                  <a:srgbClr val="10B981"/>
                </a:solidFill>
                <a:latin typeface="Consolas" pitchFamily="34" charset="0"/>
                <a:ea typeface="Consolas" pitchFamily="34" charset="-122"/>
                <a:cs typeface="Consolas" pitchFamily="34" charset="-120"/>
              </a:rPr>
              <a:t>java -version</a:t>
            </a:r>
            <a:endParaRPr lang="en-US" sz="1200" dirty="0"/>
          </a:p>
        </p:txBody>
      </p:sp>
      <p:sp>
        <p:nvSpPr>
          <p:cNvPr id="19" name="Text 17"/>
          <p:cNvSpPr/>
          <p:nvPr/>
        </p:nvSpPr>
        <p:spPr>
          <a:xfrm>
            <a:off x="457200" y="4023360"/>
            <a:ext cx="8229600" cy="228600"/>
          </a:xfrm>
          <a:prstGeom prst="rect">
            <a:avLst/>
          </a:prstGeom>
          <a:noFill/>
          <a:ln/>
        </p:spPr>
        <p:txBody>
          <a:bodyPr wrap="square" rtlCol="0" anchor="ctr"/>
          <a:lstStyle/>
          <a:p>
            <a:pPr marL="0" indent="0">
              <a:buNone/>
            </a:pPr>
            <a:r>
              <a:rPr lang="en-US" sz="1300" b="1" dirty="0">
                <a:solidFill>
                  <a:srgbClr val="1F2937"/>
                </a:solidFill>
                <a:latin typeface="Arial" pitchFamily="34" charset="0"/>
                <a:ea typeface="Arial" pitchFamily="34" charset="-122"/>
                <a:cs typeface="Arial" pitchFamily="34" charset="-120"/>
              </a:rPr>
              <a:t>Expected output:</a:t>
            </a:r>
            <a:endParaRPr lang="en-US" sz="1300" dirty="0"/>
          </a:p>
        </p:txBody>
      </p:sp>
      <p:sp>
        <p:nvSpPr>
          <p:cNvPr id="20" name="Shape 18"/>
          <p:cNvSpPr/>
          <p:nvPr/>
        </p:nvSpPr>
        <p:spPr>
          <a:xfrm>
            <a:off x="457200" y="4297680"/>
            <a:ext cx="8229600" cy="640080"/>
          </a:xfrm>
          <a:prstGeom prst="rect">
            <a:avLst/>
          </a:prstGeom>
          <a:solidFill>
            <a:srgbClr val="F3F4F6"/>
          </a:solidFill>
          <a:ln w="12700">
            <a:solidFill>
              <a:srgbClr val="335061"/>
            </a:solidFill>
            <a:prstDash val="solid"/>
          </a:ln>
        </p:spPr>
      </p:sp>
      <p:sp>
        <p:nvSpPr>
          <p:cNvPr id="21" name="Text 19"/>
          <p:cNvSpPr/>
          <p:nvPr/>
        </p:nvSpPr>
        <p:spPr>
          <a:xfrm>
            <a:off x="640080" y="4389120"/>
            <a:ext cx="7863840" cy="457200"/>
          </a:xfrm>
          <a:prstGeom prst="rect">
            <a:avLst/>
          </a:prstGeom>
          <a:noFill/>
          <a:ln/>
        </p:spPr>
        <p:txBody>
          <a:bodyPr wrap="square" rtlCol="0" anchor="ctr"/>
          <a:lstStyle/>
          <a:p>
            <a:pPr marL="0" indent="0">
              <a:buNone/>
            </a:pPr>
            <a:r>
              <a:rPr lang="en-US" sz="1100" dirty="0">
                <a:solidFill>
                  <a:srgbClr val="6B7280"/>
                </a:solidFill>
                <a:latin typeface="Consolas" pitchFamily="34" charset="0"/>
                <a:ea typeface="Consolas" pitchFamily="34" charset="-122"/>
                <a:cs typeface="Consolas" pitchFamily="34" charset="-120"/>
              </a:rPr>
              <a:t>openjdk 21.0.8 2025-07-15</a:t>
            </a:r>
            <a:endParaRPr lang="en-US" sz="1100" dirty="0"/>
          </a:p>
          <a:p>
            <a:pPr marL="0" indent="0">
              <a:buNone/>
            </a:pPr>
            <a:r>
              <a:rPr lang="en-US" sz="1100" dirty="0">
                <a:solidFill>
                  <a:srgbClr val="6B7280"/>
                </a:solidFill>
                <a:latin typeface="Consolas" pitchFamily="34" charset="0"/>
                <a:ea typeface="Consolas" pitchFamily="34" charset="-122"/>
                <a:cs typeface="Consolas" pitchFamily="34" charset="-120"/>
              </a:rPr>
              <a:t>OpenJDK Runtime Environment (build 21.0.8+9-Debian-1)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800" b="1" dirty="0">
                <a:solidFill>
                  <a:srgbClr val="D33833"/>
                </a:solidFill>
                <a:latin typeface="Arial Black" pitchFamily="34" charset="0"/>
                <a:ea typeface="Arial Black" pitchFamily="34" charset="-122"/>
                <a:cs typeface="Arial Black" pitchFamily="34" charset="-120"/>
              </a:rPr>
              <a:t>Step 2: Install Jenkins (LTS)</a:t>
            </a:r>
            <a:endParaRPr lang="en-US" sz="3800" dirty="0"/>
          </a:p>
        </p:txBody>
      </p:sp>
      <p:sp>
        <p:nvSpPr>
          <p:cNvPr id="3" name="Text 1"/>
          <p:cNvSpPr/>
          <p:nvPr/>
        </p:nvSpPr>
        <p:spPr>
          <a:xfrm>
            <a:off x="457200" y="960120"/>
            <a:ext cx="8229600" cy="27432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Long Term Support (LTS) release - Recommended for production</a:t>
            </a:r>
            <a:endParaRPr lang="en-US" sz="1400" dirty="0"/>
          </a:p>
        </p:txBody>
      </p:sp>
      <p:sp>
        <p:nvSpPr>
          <p:cNvPr id="4" name="Shape 2"/>
          <p:cNvSpPr/>
          <p:nvPr/>
        </p:nvSpPr>
        <p:spPr>
          <a:xfrm>
            <a:off x="640080" y="1435608"/>
            <a:ext cx="365760" cy="365760"/>
          </a:xfrm>
          <a:prstGeom prst="ellipse">
            <a:avLst/>
          </a:prstGeom>
          <a:solidFill>
            <a:srgbClr val="D33833"/>
          </a:solidFill>
          <a:ln/>
        </p:spPr>
      </p:sp>
      <p:sp>
        <p:nvSpPr>
          <p:cNvPr id="5" name="Text 3"/>
          <p:cNvSpPr/>
          <p:nvPr/>
        </p:nvSpPr>
        <p:spPr>
          <a:xfrm>
            <a:off x="640080" y="1435608"/>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6" name="Text 4"/>
          <p:cNvSpPr/>
          <p:nvPr/>
        </p:nvSpPr>
        <p:spPr>
          <a:xfrm>
            <a:off x="1188720" y="1399032"/>
            <a:ext cx="7315200" cy="274320"/>
          </a:xfrm>
          <a:prstGeom prst="rect">
            <a:avLst/>
          </a:prstGeom>
          <a:noFill/>
          <a:ln/>
        </p:spPr>
        <p:txBody>
          <a:bodyPr wrap="square" rtlCol="0" anchor="ctr"/>
          <a:lstStyle/>
          <a:p>
            <a:pPr marL="0" indent="0">
              <a:buNone/>
            </a:pPr>
            <a:r>
              <a:rPr lang="en-US" sz="1600" b="1" dirty="0">
                <a:solidFill>
                  <a:srgbClr val="1F2937"/>
                </a:solidFill>
                <a:latin typeface="Arial" pitchFamily="34" charset="0"/>
                <a:ea typeface="Arial" pitchFamily="34" charset="-122"/>
                <a:cs typeface="Arial" pitchFamily="34" charset="-120"/>
              </a:rPr>
              <a:t>Add Jenkins repository key</a:t>
            </a:r>
            <a:endParaRPr lang="en-US" sz="1600" dirty="0"/>
          </a:p>
        </p:txBody>
      </p:sp>
      <p:sp>
        <p:nvSpPr>
          <p:cNvPr id="7" name="Shape 5"/>
          <p:cNvSpPr/>
          <p:nvPr/>
        </p:nvSpPr>
        <p:spPr>
          <a:xfrm>
            <a:off x="1188720" y="1709928"/>
            <a:ext cx="7315200" cy="502920"/>
          </a:xfrm>
          <a:prstGeom prst="rect">
            <a:avLst/>
          </a:prstGeom>
          <a:solidFill>
            <a:srgbClr val="1F2937"/>
          </a:solidFill>
          <a:ln/>
        </p:spPr>
      </p:sp>
      <p:sp>
        <p:nvSpPr>
          <p:cNvPr id="8" name="Text 6"/>
          <p:cNvSpPr/>
          <p:nvPr/>
        </p:nvSpPr>
        <p:spPr>
          <a:xfrm>
            <a:off x="1371600" y="1764792"/>
            <a:ext cx="6949440" cy="411480"/>
          </a:xfrm>
          <a:prstGeom prst="rect">
            <a:avLst/>
          </a:prstGeom>
          <a:noFill/>
          <a:ln/>
        </p:spPr>
        <p:txBody>
          <a:bodyPr wrap="square" rtlCol="0" anchor="ctr"/>
          <a:lstStyle/>
          <a:p>
            <a:pPr marL="0" indent="0">
              <a:buNone/>
            </a:pPr>
            <a:r>
              <a:rPr lang="en-US" sz="1000" dirty="0">
                <a:solidFill>
                  <a:srgbClr val="10B981"/>
                </a:solidFill>
                <a:latin typeface="Consolas" pitchFamily="34" charset="0"/>
                <a:ea typeface="Consolas" pitchFamily="34" charset="-122"/>
                <a:cs typeface="Consolas" pitchFamily="34" charset="-120"/>
              </a:rPr>
              <a:t>sudo wget -O /etc/apt/keyrings/jenkins-keyring.asc \</a:t>
            </a:r>
            <a:endParaRPr lang="en-US" sz="1000" dirty="0"/>
          </a:p>
          <a:p>
            <a:pPr marL="0" indent="0">
              <a:buNone/>
            </a:pPr>
            <a:r>
              <a:rPr lang="en-US" sz="1000" dirty="0">
                <a:solidFill>
                  <a:srgbClr val="10B981"/>
                </a:solidFill>
                <a:latin typeface="Consolas" pitchFamily="34" charset="0"/>
                <a:ea typeface="Consolas" pitchFamily="34" charset="-122"/>
                <a:cs typeface="Consolas" pitchFamily="34" charset="-120"/>
              </a:rPr>
              <a:t>  https://pkg.jenkins.io/debian-stable/jenkins.io-2026.key</a:t>
            </a:r>
            <a:endParaRPr lang="en-US" sz="1000" dirty="0"/>
          </a:p>
        </p:txBody>
      </p:sp>
      <p:sp>
        <p:nvSpPr>
          <p:cNvPr id="9" name="Shape 7"/>
          <p:cNvSpPr/>
          <p:nvPr/>
        </p:nvSpPr>
        <p:spPr>
          <a:xfrm>
            <a:off x="640080" y="2304288"/>
            <a:ext cx="365760" cy="365760"/>
          </a:xfrm>
          <a:prstGeom prst="ellipse">
            <a:avLst/>
          </a:prstGeom>
          <a:solidFill>
            <a:srgbClr val="335061"/>
          </a:solidFill>
          <a:ln/>
        </p:spPr>
      </p:sp>
      <p:sp>
        <p:nvSpPr>
          <p:cNvPr id="10" name="Text 8"/>
          <p:cNvSpPr/>
          <p:nvPr/>
        </p:nvSpPr>
        <p:spPr>
          <a:xfrm>
            <a:off x="640080" y="2304288"/>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1" name="Text 9"/>
          <p:cNvSpPr/>
          <p:nvPr/>
        </p:nvSpPr>
        <p:spPr>
          <a:xfrm>
            <a:off x="1188720" y="2267712"/>
            <a:ext cx="7315200" cy="274320"/>
          </a:xfrm>
          <a:prstGeom prst="rect">
            <a:avLst/>
          </a:prstGeom>
          <a:noFill/>
          <a:ln/>
        </p:spPr>
        <p:txBody>
          <a:bodyPr wrap="square" rtlCol="0" anchor="ctr"/>
          <a:lstStyle/>
          <a:p>
            <a:pPr marL="0" indent="0">
              <a:buNone/>
            </a:pPr>
            <a:r>
              <a:rPr lang="en-US" sz="1600" b="1" dirty="0">
                <a:solidFill>
                  <a:srgbClr val="1F2937"/>
                </a:solidFill>
                <a:latin typeface="Arial" pitchFamily="34" charset="0"/>
                <a:ea typeface="Arial" pitchFamily="34" charset="-122"/>
                <a:cs typeface="Arial" pitchFamily="34" charset="-120"/>
              </a:rPr>
              <a:t>Add Jenkins repository</a:t>
            </a:r>
            <a:endParaRPr lang="en-US" sz="1600" dirty="0"/>
          </a:p>
        </p:txBody>
      </p:sp>
      <p:sp>
        <p:nvSpPr>
          <p:cNvPr id="12" name="Shape 10"/>
          <p:cNvSpPr/>
          <p:nvPr/>
        </p:nvSpPr>
        <p:spPr>
          <a:xfrm>
            <a:off x="1188720" y="2578608"/>
            <a:ext cx="7315200" cy="777240"/>
          </a:xfrm>
          <a:prstGeom prst="rect">
            <a:avLst/>
          </a:prstGeom>
          <a:solidFill>
            <a:srgbClr val="1F2937"/>
          </a:solidFill>
          <a:ln/>
        </p:spPr>
      </p:sp>
      <p:sp>
        <p:nvSpPr>
          <p:cNvPr id="13" name="Text 11"/>
          <p:cNvSpPr/>
          <p:nvPr/>
        </p:nvSpPr>
        <p:spPr>
          <a:xfrm>
            <a:off x="1371600" y="2633472"/>
            <a:ext cx="6949440" cy="685800"/>
          </a:xfrm>
          <a:prstGeom prst="rect">
            <a:avLst/>
          </a:prstGeom>
          <a:noFill/>
          <a:ln/>
        </p:spPr>
        <p:txBody>
          <a:bodyPr wrap="square" rtlCol="0" anchor="ctr"/>
          <a:lstStyle/>
          <a:p>
            <a:pPr marL="0" indent="0">
              <a:buNone/>
            </a:pPr>
            <a:r>
              <a:rPr lang="en-US" sz="1000" dirty="0">
                <a:solidFill>
                  <a:srgbClr val="10B981"/>
                </a:solidFill>
                <a:latin typeface="Consolas" pitchFamily="34" charset="0"/>
                <a:ea typeface="Consolas" pitchFamily="34" charset="-122"/>
                <a:cs typeface="Consolas" pitchFamily="34" charset="-120"/>
              </a:rPr>
              <a:t>echo "deb [signed-by=/etc/apt/keyrings/jenkins-keyring.asc]" \</a:t>
            </a:r>
            <a:endParaRPr lang="en-US" sz="1000" dirty="0"/>
          </a:p>
          <a:p>
            <a:pPr marL="0" indent="0">
              <a:buNone/>
            </a:pPr>
            <a:r>
              <a:rPr lang="en-US" sz="1000" dirty="0">
                <a:solidFill>
                  <a:srgbClr val="10B981"/>
                </a:solidFill>
                <a:latin typeface="Consolas" pitchFamily="34" charset="0"/>
                <a:ea typeface="Consolas" pitchFamily="34" charset="-122"/>
                <a:cs typeface="Consolas" pitchFamily="34" charset="-120"/>
              </a:rPr>
              <a:t>  https://pkg.jenkins.io/debian-stable binary/ | sudo tee \</a:t>
            </a:r>
            <a:endParaRPr lang="en-US" sz="1000" dirty="0"/>
          </a:p>
          <a:p>
            <a:pPr marL="0" indent="0">
              <a:buNone/>
            </a:pPr>
            <a:r>
              <a:rPr lang="en-US" sz="1000" dirty="0">
                <a:solidFill>
                  <a:srgbClr val="10B981"/>
                </a:solidFill>
                <a:latin typeface="Consolas" pitchFamily="34" charset="0"/>
                <a:ea typeface="Consolas" pitchFamily="34" charset="-122"/>
                <a:cs typeface="Consolas" pitchFamily="34" charset="-120"/>
              </a:rPr>
              <a:t>  /etc/apt/sources.list.d/jenkins.list &gt; /dev/null</a:t>
            </a:r>
            <a:endParaRPr lang="en-US" sz="1000" dirty="0"/>
          </a:p>
        </p:txBody>
      </p:sp>
      <p:sp>
        <p:nvSpPr>
          <p:cNvPr id="14" name="Shape 12"/>
          <p:cNvSpPr/>
          <p:nvPr/>
        </p:nvSpPr>
        <p:spPr>
          <a:xfrm>
            <a:off x="640080" y="3310128"/>
            <a:ext cx="365760" cy="365760"/>
          </a:xfrm>
          <a:prstGeom prst="ellipse">
            <a:avLst/>
          </a:prstGeom>
          <a:solidFill>
            <a:srgbClr val="10B981"/>
          </a:solidFill>
          <a:ln/>
        </p:spPr>
      </p:sp>
      <p:sp>
        <p:nvSpPr>
          <p:cNvPr id="15" name="Text 13"/>
          <p:cNvSpPr/>
          <p:nvPr/>
        </p:nvSpPr>
        <p:spPr>
          <a:xfrm>
            <a:off x="640080" y="3310128"/>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16" name="Text 14"/>
          <p:cNvSpPr/>
          <p:nvPr/>
        </p:nvSpPr>
        <p:spPr>
          <a:xfrm>
            <a:off x="1188720" y="3273552"/>
            <a:ext cx="7315200" cy="274320"/>
          </a:xfrm>
          <a:prstGeom prst="rect">
            <a:avLst/>
          </a:prstGeom>
          <a:noFill/>
          <a:ln/>
        </p:spPr>
        <p:txBody>
          <a:bodyPr wrap="square" rtlCol="0" anchor="ctr"/>
          <a:lstStyle/>
          <a:p>
            <a:pPr marL="0" indent="0">
              <a:buNone/>
            </a:pPr>
            <a:r>
              <a:rPr lang="en-US" sz="1600" b="1" dirty="0">
                <a:solidFill>
                  <a:srgbClr val="1F2937"/>
                </a:solidFill>
                <a:latin typeface="Arial" pitchFamily="34" charset="0"/>
                <a:ea typeface="Arial" pitchFamily="34" charset="-122"/>
                <a:cs typeface="Arial" pitchFamily="34" charset="-120"/>
              </a:rPr>
              <a:t>Update and install Jenkins</a:t>
            </a:r>
            <a:endParaRPr lang="en-US" sz="1600" dirty="0"/>
          </a:p>
        </p:txBody>
      </p:sp>
      <p:sp>
        <p:nvSpPr>
          <p:cNvPr id="17" name="Shape 15"/>
          <p:cNvSpPr/>
          <p:nvPr/>
        </p:nvSpPr>
        <p:spPr>
          <a:xfrm>
            <a:off x="1188720" y="3584448"/>
            <a:ext cx="7315200" cy="548640"/>
          </a:xfrm>
          <a:prstGeom prst="rect">
            <a:avLst/>
          </a:prstGeom>
          <a:solidFill>
            <a:srgbClr val="1F2937"/>
          </a:solidFill>
          <a:ln/>
        </p:spPr>
      </p:sp>
      <p:sp>
        <p:nvSpPr>
          <p:cNvPr id="18" name="Text 16"/>
          <p:cNvSpPr/>
          <p:nvPr/>
        </p:nvSpPr>
        <p:spPr>
          <a:xfrm>
            <a:off x="1371600" y="3639312"/>
            <a:ext cx="6949440" cy="457200"/>
          </a:xfrm>
          <a:prstGeom prst="rect">
            <a:avLst/>
          </a:prstGeom>
          <a:noFill/>
          <a:ln/>
        </p:spPr>
        <p:txBody>
          <a:bodyPr wrap="square" rtlCol="0" anchor="ctr"/>
          <a:lstStyle/>
          <a:p>
            <a:pPr marL="0" indent="0">
              <a:buNone/>
            </a:pPr>
            <a:r>
              <a:rPr lang="en-US" sz="1000" dirty="0">
                <a:solidFill>
                  <a:srgbClr val="10B981"/>
                </a:solidFill>
                <a:latin typeface="Consolas" pitchFamily="34" charset="0"/>
                <a:ea typeface="Consolas" pitchFamily="34" charset="-122"/>
                <a:cs typeface="Consolas" pitchFamily="34" charset="-120"/>
              </a:rPr>
              <a:t>sudo apt update</a:t>
            </a:r>
            <a:endParaRPr lang="en-US" sz="1000" dirty="0"/>
          </a:p>
          <a:p>
            <a:pPr marL="0" indent="0">
              <a:buNone/>
            </a:pPr>
            <a:r>
              <a:rPr lang="en-US" sz="1000" dirty="0">
                <a:solidFill>
                  <a:srgbClr val="10B981"/>
                </a:solidFill>
                <a:latin typeface="Consolas" pitchFamily="34" charset="0"/>
                <a:ea typeface="Consolas" pitchFamily="34" charset="-122"/>
                <a:cs typeface="Consolas" pitchFamily="34" charset="-120"/>
              </a:rPr>
              <a:t>sudo apt install jenkins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800" b="1" dirty="0">
                <a:solidFill>
                  <a:srgbClr val="D33833"/>
                </a:solidFill>
                <a:latin typeface="Arial Black" pitchFamily="34" charset="0"/>
                <a:ea typeface="Arial Black" pitchFamily="34" charset="-122"/>
                <a:cs typeface="Arial Black" pitchFamily="34" charset="-120"/>
              </a:rPr>
              <a:t>Step 3: Start Jenkins Service</a:t>
            </a:r>
            <a:endParaRPr lang="en-US" sz="3800" dirty="0"/>
          </a:p>
        </p:txBody>
      </p:sp>
      <p:sp>
        <p:nvSpPr>
          <p:cNvPr id="3" name="Shape 1"/>
          <p:cNvSpPr/>
          <p:nvPr/>
        </p:nvSpPr>
        <p:spPr>
          <a:xfrm>
            <a:off x="640080" y="1207008"/>
            <a:ext cx="365760" cy="365760"/>
          </a:xfrm>
          <a:prstGeom prst="ellipse">
            <a:avLst/>
          </a:prstGeom>
          <a:solidFill>
            <a:srgbClr val="D33833"/>
          </a:solidFill>
          <a:ln/>
        </p:spPr>
      </p:sp>
      <p:sp>
        <p:nvSpPr>
          <p:cNvPr id="4" name="Text 2"/>
          <p:cNvSpPr/>
          <p:nvPr/>
        </p:nvSpPr>
        <p:spPr>
          <a:xfrm>
            <a:off x="640080" y="1207008"/>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5" name="Text 3"/>
          <p:cNvSpPr/>
          <p:nvPr/>
        </p:nvSpPr>
        <p:spPr>
          <a:xfrm>
            <a:off x="1188720" y="1170432"/>
            <a:ext cx="7315200" cy="274320"/>
          </a:xfrm>
          <a:prstGeom prst="rect">
            <a:avLst/>
          </a:prstGeom>
          <a:noFill/>
          <a:ln/>
        </p:spPr>
        <p:txBody>
          <a:bodyPr wrap="square" rtlCol="0" anchor="ctr"/>
          <a:lstStyle/>
          <a:p>
            <a:pPr marL="0" indent="0">
              <a:buNone/>
            </a:pPr>
            <a:r>
              <a:rPr lang="en-US" sz="1600" b="1" dirty="0">
                <a:solidFill>
                  <a:srgbClr val="1F2937"/>
                </a:solidFill>
                <a:latin typeface="Arial" pitchFamily="34" charset="0"/>
                <a:ea typeface="Arial" pitchFamily="34" charset="-122"/>
                <a:cs typeface="Arial" pitchFamily="34" charset="-120"/>
              </a:rPr>
              <a:t>Enable Jenkins to start on boot</a:t>
            </a:r>
            <a:endParaRPr lang="en-US" sz="1600" dirty="0"/>
          </a:p>
        </p:txBody>
      </p:sp>
      <p:sp>
        <p:nvSpPr>
          <p:cNvPr id="6" name="Shape 4"/>
          <p:cNvSpPr/>
          <p:nvPr/>
        </p:nvSpPr>
        <p:spPr>
          <a:xfrm>
            <a:off x="1188720" y="1481328"/>
            <a:ext cx="7315200" cy="411480"/>
          </a:xfrm>
          <a:prstGeom prst="rect">
            <a:avLst/>
          </a:prstGeom>
          <a:solidFill>
            <a:srgbClr val="1F2937"/>
          </a:solidFill>
          <a:ln/>
        </p:spPr>
      </p:sp>
      <p:sp>
        <p:nvSpPr>
          <p:cNvPr id="7" name="Text 5"/>
          <p:cNvSpPr/>
          <p:nvPr/>
        </p:nvSpPr>
        <p:spPr>
          <a:xfrm>
            <a:off x="1371600" y="1554480"/>
            <a:ext cx="6949440" cy="274320"/>
          </a:xfrm>
          <a:prstGeom prst="rect">
            <a:avLst/>
          </a:prstGeom>
          <a:noFill/>
          <a:ln/>
        </p:spPr>
        <p:txBody>
          <a:bodyPr wrap="square" rtlCol="0" anchor="ctr"/>
          <a:lstStyle/>
          <a:p>
            <a:pPr marL="0" indent="0">
              <a:buNone/>
            </a:pPr>
            <a:r>
              <a:rPr lang="en-US" sz="1200" dirty="0">
                <a:solidFill>
                  <a:srgbClr val="10B981"/>
                </a:solidFill>
                <a:latin typeface="Consolas" pitchFamily="34" charset="0"/>
                <a:ea typeface="Consolas" pitchFamily="34" charset="-122"/>
                <a:cs typeface="Consolas" pitchFamily="34" charset="-120"/>
              </a:rPr>
              <a:t>sudo systemctl enable jenkins</a:t>
            </a:r>
            <a:endParaRPr lang="en-US" sz="1200" dirty="0"/>
          </a:p>
        </p:txBody>
      </p:sp>
      <p:sp>
        <p:nvSpPr>
          <p:cNvPr id="8" name="Shape 6"/>
          <p:cNvSpPr/>
          <p:nvPr/>
        </p:nvSpPr>
        <p:spPr>
          <a:xfrm>
            <a:off x="640080" y="1984248"/>
            <a:ext cx="365760" cy="365760"/>
          </a:xfrm>
          <a:prstGeom prst="ellipse">
            <a:avLst/>
          </a:prstGeom>
          <a:solidFill>
            <a:srgbClr val="335061"/>
          </a:solidFill>
          <a:ln/>
        </p:spPr>
      </p:sp>
      <p:sp>
        <p:nvSpPr>
          <p:cNvPr id="9" name="Text 7"/>
          <p:cNvSpPr/>
          <p:nvPr/>
        </p:nvSpPr>
        <p:spPr>
          <a:xfrm>
            <a:off x="640080" y="1984248"/>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0" name="Text 8"/>
          <p:cNvSpPr/>
          <p:nvPr/>
        </p:nvSpPr>
        <p:spPr>
          <a:xfrm>
            <a:off x="1188720" y="1947672"/>
            <a:ext cx="7315200" cy="274320"/>
          </a:xfrm>
          <a:prstGeom prst="rect">
            <a:avLst/>
          </a:prstGeom>
          <a:noFill/>
          <a:ln/>
        </p:spPr>
        <p:txBody>
          <a:bodyPr wrap="square" rtlCol="0" anchor="ctr"/>
          <a:lstStyle/>
          <a:p>
            <a:pPr marL="0" indent="0">
              <a:buNone/>
            </a:pPr>
            <a:r>
              <a:rPr lang="en-US" sz="1600" b="1" dirty="0">
                <a:solidFill>
                  <a:srgbClr val="1F2937"/>
                </a:solidFill>
                <a:latin typeface="Arial" pitchFamily="34" charset="0"/>
                <a:ea typeface="Arial" pitchFamily="34" charset="-122"/>
                <a:cs typeface="Arial" pitchFamily="34" charset="-120"/>
              </a:rPr>
              <a:t>Start Jenkins service</a:t>
            </a:r>
            <a:endParaRPr lang="en-US" sz="1600" dirty="0"/>
          </a:p>
        </p:txBody>
      </p:sp>
      <p:sp>
        <p:nvSpPr>
          <p:cNvPr id="11" name="Shape 9"/>
          <p:cNvSpPr/>
          <p:nvPr/>
        </p:nvSpPr>
        <p:spPr>
          <a:xfrm>
            <a:off x="1188720" y="2258568"/>
            <a:ext cx="7315200" cy="411480"/>
          </a:xfrm>
          <a:prstGeom prst="rect">
            <a:avLst/>
          </a:prstGeom>
          <a:solidFill>
            <a:srgbClr val="1F2937"/>
          </a:solidFill>
          <a:ln/>
        </p:spPr>
      </p:sp>
      <p:sp>
        <p:nvSpPr>
          <p:cNvPr id="12" name="Text 10"/>
          <p:cNvSpPr/>
          <p:nvPr/>
        </p:nvSpPr>
        <p:spPr>
          <a:xfrm>
            <a:off x="1371600" y="2331720"/>
            <a:ext cx="6949440" cy="274320"/>
          </a:xfrm>
          <a:prstGeom prst="rect">
            <a:avLst/>
          </a:prstGeom>
          <a:noFill/>
          <a:ln/>
        </p:spPr>
        <p:txBody>
          <a:bodyPr wrap="square" rtlCol="0" anchor="ctr"/>
          <a:lstStyle/>
          <a:p>
            <a:pPr marL="0" indent="0">
              <a:buNone/>
            </a:pPr>
            <a:r>
              <a:rPr lang="en-US" sz="1200" dirty="0">
                <a:solidFill>
                  <a:srgbClr val="10B981"/>
                </a:solidFill>
                <a:latin typeface="Consolas" pitchFamily="34" charset="0"/>
                <a:ea typeface="Consolas" pitchFamily="34" charset="-122"/>
                <a:cs typeface="Consolas" pitchFamily="34" charset="-120"/>
              </a:rPr>
              <a:t>sudo systemctl start jenkins</a:t>
            </a:r>
            <a:endParaRPr lang="en-US" sz="1200" dirty="0"/>
          </a:p>
        </p:txBody>
      </p:sp>
      <p:sp>
        <p:nvSpPr>
          <p:cNvPr id="13" name="Shape 11"/>
          <p:cNvSpPr/>
          <p:nvPr/>
        </p:nvSpPr>
        <p:spPr>
          <a:xfrm>
            <a:off x="640080" y="2761488"/>
            <a:ext cx="365760" cy="365760"/>
          </a:xfrm>
          <a:prstGeom prst="ellipse">
            <a:avLst/>
          </a:prstGeom>
          <a:solidFill>
            <a:srgbClr val="10B981"/>
          </a:solidFill>
          <a:ln/>
        </p:spPr>
      </p:sp>
      <p:sp>
        <p:nvSpPr>
          <p:cNvPr id="14" name="Text 12"/>
          <p:cNvSpPr/>
          <p:nvPr/>
        </p:nvSpPr>
        <p:spPr>
          <a:xfrm>
            <a:off x="640080" y="2761488"/>
            <a:ext cx="365760" cy="36576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15" name="Text 13"/>
          <p:cNvSpPr/>
          <p:nvPr/>
        </p:nvSpPr>
        <p:spPr>
          <a:xfrm>
            <a:off x="1188720" y="2724912"/>
            <a:ext cx="7315200" cy="274320"/>
          </a:xfrm>
          <a:prstGeom prst="rect">
            <a:avLst/>
          </a:prstGeom>
          <a:noFill/>
          <a:ln/>
        </p:spPr>
        <p:txBody>
          <a:bodyPr wrap="square" rtlCol="0" anchor="ctr"/>
          <a:lstStyle/>
          <a:p>
            <a:pPr marL="0" indent="0">
              <a:buNone/>
            </a:pPr>
            <a:r>
              <a:rPr lang="en-US" sz="1600" b="1" dirty="0">
                <a:solidFill>
                  <a:srgbClr val="1F2937"/>
                </a:solidFill>
                <a:latin typeface="Arial" pitchFamily="34" charset="0"/>
                <a:ea typeface="Arial" pitchFamily="34" charset="-122"/>
                <a:cs typeface="Arial" pitchFamily="34" charset="-120"/>
              </a:rPr>
              <a:t>Check Jenkins status</a:t>
            </a:r>
            <a:endParaRPr lang="en-US" sz="1600" dirty="0"/>
          </a:p>
        </p:txBody>
      </p:sp>
      <p:sp>
        <p:nvSpPr>
          <p:cNvPr id="16" name="Shape 14"/>
          <p:cNvSpPr/>
          <p:nvPr/>
        </p:nvSpPr>
        <p:spPr>
          <a:xfrm>
            <a:off x="1188720" y="3035808"/>
            <a:ext cx="7315200" cy="411480"/>
          </a:xfrm>
          <a:prstGeom prst="rect">
            <a:avLst/>
          </a:prstGeom>
          <a:solidFill>
            <a:srgbClr val="1F2937"/>
          </a:solidFill>
          <a:ln/>
        </p:spPr>
      </p:sp>
      <p:sp>
        <p:nvSpPr>
          <p:cNvPr id="17" name="Text 15"/>
          <p:cNvSpPr/>
          <p:nvPr/>
        </p:nvSpPr>
        <p:spPr>
          <a:xfrm>
            <a:off x="1371600" y="3108960"/>
            <a:ext cx="6949440" cy="274320"/>
          </a:xfrm>
          <a:prstGeom prst="rect">
            <a:avLst/>
          </a:prstGeom>
          <a:noFill/>
          <a:ln/>
        </p:spPr>
        <p:txBody>
          <a:bodyPr wrap="square" rtlCol="0" anchor="ctr"/>
          <a:lstStyle/>
          <a:p>
            <a:pPr marL="0" indent="0">
              <a:buNone/>
            </a:pPr>
            <a:r>
              <a:rPr lang="en-US" sz="1200" dirty="0">
                <a:solidFill>
                  <a:srgbClr val="10B981"/>
                </a:solidFill>
                <a:latin typeface="Consolas" pitchFamily="34" charset="0"/>
                <a:ea typeface="Consolas" pitchFamily="34" charset="-122"/>
                <a:cs typeface="Consolas" pitchFamily="34" charset="-120"/>
              </a:rPr>
              <a:t>sudo systemctl status jenkins</a:t>
            </a:r>
            <a:endParaRPr lang="en-US" sz="1200" dirty="0"/>
          </a:p>
        </p:txBody>
      </p:sp>
      <p:sp>
        <p:nvSpPr>
          <p:cNvPr id="18" name="Text 16"/>
          <p:cNvSpPr/>
          <p:nvPr/>
        </p:nvSpPr>
        <p:spPr>
          <a:xfrm>
            <a:off x="457200" y="3657600"/>
            <a:ext cx="8229600" cy="228600"/>
          </a:xfrm>
          <a:prstGeom prst="rect">
            <a:avLst/>
          </a:prstGeom>
          <a:noFill/>
          <a:ln/>
        </p:spPr>
        <p:txBody>
          <a:bodyPr wrap="square" rtlCol="0" anchor="ctr"/>
          <a:lstStyle/>
          <a:p>
            <a:pPr marL="0" indent="0">
              <a:buNone/>
            </a:pPr>
            <a:r>
              <a:rPr lang="en-US" sz="1300" b="1" dirty="0">
                <a:solidFill>
                  <a:srgbClr val="1F2937"/>
                </a:solidFill>
                <a:latin typeface="Arial" pitchFamily="34" charset="0"/>
                <a:ea typeface="Arial" pitchFamily="34" charset="-122"/>
                <a:cs typeface="Arial" pitchFamily="34" charset="-120"/>
              </a:rPr>
              <a:t>Expected status output:</a:t>
            </a:r>
            <a:endParaRPr lang="en-US" sz="1300" dirty="0"/>
          </a:p>
        </p:txBody>
      </p:sp>
      <p:sp>
        <p:nvSpPr>
          <p:cNvPr id="19" name="Shape 17"/>
          <p:cNvSpPr/>
          <p:nvPr/>
        </p:nvSpPr>
        <p:spPr>
          <a:xfrm>
            <a:off x="457200" y="3931920"/>
            <a:ext cx="8229600" cy="822960"/>
          </a:xfrm>
          <a:prstGeom prst="rect">
            <a:avLst/>
          </a:prstGeom>
          <a:solidFill>
            <a:srgbClr val="F3F4F6"/>
          </a:solidFill>
          <a:ln w="25400">
            <a:solidFill>
              <a:srgbClr val="10B981"/>
            </a:solidFill>
            <a:prstDash val="solid"/>
          </a:ln>
        </p:spPr>
      </p:sp>
      <p:sp>
        <p:nvSpPr>
          <p:cNvPr id="20" name="Text 18"/>
          <p:cNvSpPr/>
          <p:nvPr/>
        </p:nvSpPr>
        <p:spPr>
          <a:xfrm>
            <a:off x="640080" y="4069080"/>
            <a:ext cx="7863840" cy="548640"/>
          </a:xfrm>
          <a:prstGeom prst="rect">
            <a:avLst/>
          </a:prstGeom>
          <a:noFill/>
          <a:ln/>
        </p:spPr>
        <p:txBody>
          <a:bodyPr wrap="square" rtlCol="0" anchor="ctr"/>
          <a:lstStyle/>
          <a:p>
            <a:pPr marL="0" indent="0">
              <a:buNone/>
            </a:pPr>
            <a:r>
              <a:rPr lang="en-US" sz="1000" dirty="0">
                <a:solidFill>
                  <a:srgbClr val="6B7280"/>
                </a:solidFill>
                <a:latin typeface="Consolas" pitchFamily="34" charset="0"/>
                <a:ea typeface="Consolas" pitchFamily="34" charset="-122"/>
                <a:cs typeface="Consolas" pitchFamily="34" charset="-120"/>
              </a:rPr>
              <a:t>● jenkins.service - Jenkins Continuous Integration Server</a:t>
            </a:r>
            <a:endParaRPr lang="en-US" sz="1000" dirty="0"/>
          </a:p>
          <a:p>
            <a:pPr marL="0" indent="0">
              <a:buNone/>
            </a:pPr>
            <a:r>
              <a:rPr lang="en-US" sz="1000" dirty="0">
                <a:solidFill>
                  <a:srgbClr val="6B7280"/>
                </a:solidFill>
                <a:latin typeface="Consolas" pitchFamily="34" charset="0"/>
                <a:ea typeface="Consolas" pitchFamily="34" charset="-122"/>
                <a:cs typeface="Consolas" pitchFamily="34" charset="-120"/>
              </a:rPr>
              <a:t>   Loaded: loaded (/lib/systemd/system/jenkins.service; enabled)</a:t>
            </a:r>
            <a:endParaRPr lang="en-US" sz="1000" dirty="0"/>
          </a:p>
          <a:p>
            <a:pPr marL="0" indent="0">
              <a:buNone/>
            </a:pPr>
            <a:r>
              <a:rPr lang="en-US" sz="1000" b="1" dirty="0">
                <a:solidFill>
                  <a:srgbClr val="10B981"/>
                </a:solidFill>
                <a:latin typeface="Consolas" pitchFamily="34" charset="0"/>
                <a:ea typeface="Consolas" pitchFamily="34" charset="-122"/>
                <a:cs typeface="Consolas" pitchFamily="34" charset="-120"/>
              </a:rPr>
              <a:t>   Active: active (running) since ...</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800" b="1" dirty="0">
                <a:solidFill>
                  <a:srgbClr val="D33833"/>
                </a:solidFill>
                <a:latin typeface="Arial Black" pitchFamily="34" charset="0"/>
                <a:ea typeface="Arial Black" pitchFamily="34" charset="-122"/>
                <a:cs typeface="Arial Black" pitchFamily="34" charset="-120"/>
              </a:rPr>
              <a:t>Step 4: Post-Installation Setup</a:t>
            </a:r>
            <a:endParaRPr lang="en-US" sz="3800" dirty="0"/>
          </a:p>
        </p:txBody>
      </p:sp>
      <p:sp>
        <p:nvSpPr>
          <p:cNvPr id="3" name="Shape 1"/>
          <p:cNvSpPr/>
          <p:nvPr/>
        </p:nvSpPr>
        <p:spPr>
          <a:xfrm>
            <a:off x="457200" y="1097280"/>
            <a:ext cx="8229600" cy="594360"/>
          </a:xfrm>
          <a:prstGeom prst="rect">
            <a:avLst/>
          </a:prstGeom>
          <a:solidFill>
            <a:srgbClr val="F3F4F6"/>
          </a:solidFill>
          <a:ln/>
          <a:effectLst>
            <a:outerShdw blurRad="76200" dist="25400" dir="8100000" algn="bl" rotWithShape="0">
              <a:srgbClr val="000000">
                <a:alpha val="15000"/>
              </a:srgbClr>
            </a:outerShdw>
          </a:effectLst>
        </p:spPr>
      </p:sp>
      <p:sp>
        <p:nvSpPr>
          <p:cNvPr id="4" name="Text 2"/>
          <p:cNvSpPr/>
          <p:nvPr/>
        </p:nvSpPr>
        <p:spPr>
          <a:xfrm>
            <a:off x="731520" y="1280160"/>
            <a:ext cx="7680960" cy="274320"/>
          </a:xfrm>
          <a:prstGeom prst="rect">
            <a:avLst/>
          </a:prstGeom>
          <a:noFill/>
          <a:ln/>
        </p:spPr>
        <p:txBody>
          <a:bodyPr wrap="square"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1. Access Jenkins: </a:t>
            </a:r>
            <a:r>
              <a:rPr lang="en-US" sz="1400" dirty="0">
                <a:solidFill>
                  <a:srgbClr val="6B7280"/>
                </a:solidFill>
                <a:latin typeface="Calibri" pitchFamily="34" charset="0"/>
                <a:ea typeface="Calibri" pitchFamily="34" charset="-122"/>
                <a:cs typeface="Calibri" pitchFamily="34" charset="-120"/>
              </a:rPr>
              <a:t>Open browser and navigate to </a:t>
            </a:r>
            <a:r>
              <a:rPr lang="en-US" sz="1400" b="1" dirty="0">
                <a:solidFill>
                  <a:srgbClr val="0066CC"/>
                </a:solidFill>
                <a:latin typeface="Calibri" pitchFamily="34" charset="0"/>
                <a:ea typeface="Calibri" pitchFamily="34" charset="-122"/>
                <a:cs typeface="Calibri" pitchFamily="34" charset="-120"/>
              </a:rPr>
              <a:t>http://localhost:8080</a:t>
            </a:r>
            <a:endParaRPr lang="en-US" sz="1600" dirty="0"/>
          </a:p>
        </p:txBody>
      </p:sp>
      <p:sp>
        <p:nvSpPr>
          <p:cNvPr id="5" name="Shape 3"/>
          <p:cNvSpPr/>
          <p:nvPr/>
        </p:nvSpPr>
        <p:spPr>
          <a:xfrm>
            <a:off x="457200" y="1874520"/>
            <a:ext cx="8229600" cy="914400"/>
          </a:xfrm>
          <a:prstGeom prst="rect">
            <a:avLst/>
          </a:prstGeom>
          <a:solidFill>
            <a:srgbClr val="F3F4F6"/>
          </a:solidFill>
          <a:ln/>
          <a:effectLst>
            <a:outerShdw blurRad="76200" dist="25400" dir="8100000" algn="bl" rotWithShape="0">
              <a:srgbClr val="000000">
                <a:alpha val="15000"/>
              </a:srgbClr>
            </a:outerShdw>
          </a:effectLst>
        </p:spPr>
      </p:sp>
      <p:sp>
        <p:nvSpPr>
          <p:cNvPr id="6" name="Text 4"/>
          <p:cNvSpPr/>
          <p:nvPr/>
        </p:nvSpPr>
        <p:spPr>
          <a:xfrm>
            <a:off x="731520" y="2057400"/>
            <a:ext cx="7680960" cy="274320"/>
          </a:xfrm>
          <a:prstGeom prst="rect">
            <a:avLst/>
          </a:prstGeom>
          <a:noFill/>
          <a:ln/>
        </p:spPr>
        <p:txBody>
          <a:bodyPr wrap="square" rtlCol="0" anchor="ctr"/>
          <a:lstStyle/>
          <a:p>
            <a:pPr marL="0" indent="0">
              <a:buNone/>
            </a:pPr>
            <a:r>
              <a:rPr lang="en-US" sz="1600" b="1" dirty="0">
                <a:solidFill>
                  <a:srgbClr val="1F2937"/>
                </a:solidFill>
                <a:latin typeface="Arial" pitchFamily="34" charset="0"/>
                <a:ea typeface="Arial" pitchFamily="34" charset="-122"/>
                <a:cs typeface="Arial" pitchFamily="34" charset="-120"/>
              </a:rPr>
              <a:t>2. Unlock Jenkins</a:t>
            </a:r>
            <a:endParaRPr lang="en-US" sz="1600" dirty="0"/>
          </a:p>
        </p:txBody>
      </p:sp>
      <p:sp>
        <p:nvSpPr>
          <p:cNvPr id="7" name="Text 5"/>
          <p:cNvSpPr/>
          <p:nvPr/>
        </p:nvSpPr>
        <p:spPr>
          <a:xfrm>
            <a:off x="731520" y="2331720"/>
            <a:ext cx="7680960" cy="2286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Get the initial admin password:</a:t>
            </a:r>
            <a:endParaRPr lang="en-US" sz="1300" dirty="0"/>
          </a:p>
        </p:txBody>
      </p:sp>
      <p:sp>
        <p:nvSpPr>
          <p:cNvPr id="8" name="Shape 6"/>
          <p:cNvSpPr/>
          <p:nvPr/>
        </p:nvSpPr>
        <p:spPr>
          <a:xfrm>
            <a:off x="731520" y="2587752"/>
            <a:ext cx="7680960" cy="320040"/>
          </a:xfrm>
          <a:prstGeom prst="rect">
            <a:avLst/>
          </a:prstGeom>
          <a:solidFill>
            <a:srgbClr val="1F2937"/>
          </a:solidFill>
          <a:ln/>
        </p:spPr>
      </p:sp>
      <p:sp>
        <p:nvSpPr>
          <p:cNvPr id="9" name="Text 7"/>
          <p:cNvSpPr/>
          <p:nvPr/>
        </p:nvSpPr>
        <p:spPr>
          <a:xfrm>
            <a:off x="914400" y="2651760"/>
            <a:ext cx="7315200" cy="228600"/>
          </a:xfrm>
          <a:prstGeom prst="rect">
            <a:avLst/>
          </a:prstGeom>
          <a:noFill/>
          <a:ln/>
        </p:spPr>
        <p:txBody>
          <a:bodyPr wrap="square" rtlCol="0" anchor="ctr"/>
          <a:lstStyle/>
          <a:p>
            <a:pPr marL="0" indent="0">
              <a:buNone/>
            </a:pPr>
            <a:r>
              <a:rPr lang="en-US" sz="1100" dirty="0">
                <a:solidFill>
                  <a:srgbClr val="10B981"/>
                </a:solidFill>
                <a:latin typeface="Consolas" pitchFamily="34" charset="0"/>
                <a:ea typeface="Consolas" pitchFamily="34" charset="-122"/>
                <a:cs typeface="Consolas" pitchFamily="34" charset="-120"/>
              </a:rPr>
              <a:t>sudo cat /var/lib/jenkins/secrets/initialAdminPassword</a:t>
            </a:r>
            <a:endParaRPr lang="en-US" sz="1100" dirty="0"/>
          </a:p>
        </p:txBody>
      </p:sp>
      <p:sp>
        <p:nvSpPr>
          <p:cNvPr id="10" name="Shape 8"/>
          <p:cNvSpPr/>
          <p:nvPr/>
        </p:nvSpPr>
        <p:spPr>
          <a:xfrm>
            <a:off x="457200" y="2971800"/>
            <a:ext cx="8229600" cy="731520"/>
          </a:xfrm>
          <a:prstGeom prst="rect">
            <a:avLst/>
          </a:prstGeom>
          <a:solidFill>
            <a:srgbClr val="F3F4F6"/>
          </a:solidFill>
          <a:ln/>
          <a:effectLst>
            <a:outerShdw blurRad="76200" dist="25400" dir="8100000" algn="bl" rotWithShape="0">
              <a:srgbClr val="000000">
                <a:alpha val="15000"/>
              </a:srgbClr>
            </a:outerShdw>
          </a:effectLst>
        </p:spPr>
      </p:sp>
      <p:sp>
        <p:nvSpPr>
          <p:cNvPr id="11" name="Text 9"/>
          <p:cNvSpPr/>
          <p:nvPr/>
        </p:nvSpPr>
        <p:spPr>
          <a:xfrm>
            <a:off x="731520" y="3127248"/>
            <a:ext cx="7680960" cy="274320"/>
          </a:xfrm>
          <a:prstGeom prst="rect">
            <a:avLst/>
          </a:prstGeom>
          <a:noFill/>
          <a:ln/>
        </p:spPr>
        <p:txBody>
          <a:bodyPr wrap="square" rtlCol="0" anchor="ctr"/>
          <a:lstStyle/>
          <a:p>
            <a:pPr marL="0" indent="0">
              <a:buNone/>
            </a:pPr>
            <a:r>
              <a:rPr lang="en-US" sz="1600" b="1" dirty="0">
                <a:solidFill>
                  <a:srgbClr val="1F2937"/>
                </a:solidFill>
                <a:latin typeface="Arial" pitchFamily="34" charset="0"/>
                <a:ea typeface="Arial" pitchFamily="34" charset="-122"/>
                <a:cs typeface="Arial" pitchFamily="34" charset="-120"/>
              </a:rPr>
              <a:t>3. Customize Jenkins with Plugins</a:t>
            </a:r>
            <a:endParaRPr lang="en-US" sz="1600" dirty="0"/>
          </a:p>
        </p:txBody>
      </p:sp>
      <p:sp>
        <p:nvSpPr>
          <p:cNvPr id="12" name="Text 10"/>
          <p:cNvSpPr/>
          <p:nvPr/>
        </p:nvSpPr>
        <p:spPr>
          <a:xfrm>
            <a:off x="731520" y="3401568"/>
            <a:ext cx="7680960" cy="2286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Choose 'Install suggested plugins' for quick setup or select specific plugins based on your needs.</a:t>
            </a:r>
            <a:endParaRPr lang="en-US" sz="1300" dirty="0"/>
          </a:p>
        </p:txBody>
      </p:sp>
      <p:sp>
        <p:nvSpPr>
          <p:cNvPr id="13" name="Shape 11"/>
          <p:cNvSpPr/>
          <p:nvPr/>
        </p:nvSpPr>
        <p:spPr>
          <a:xfrm>
            <a:off x="457200" y="3886200"/>
            <a:ext cx="8229600" cy="731520"/>
          </a:xfrm>
          <a:prstGeom prst="rect">
            <a:avLst/>
          </a:prstGeom>
          <a:solidFill>
            <a:srgbClr val="F3F4F6"/>
          </a:solidFill>
          <a:ln/>
          <a:effectLst>
            <a:outerShdw blurRad="76200" dist="25400" dir="8100000" algn="bl" rotWithShape="0">
              <a:srgbClr val="000000">
                <a:alpha val="15000"/>
              </a:srgbClr>
            </a:outerShdw>
          </a:effectLst>
        </p:spPr>
      </p:sp>
      <p:sp>
        <p:nvSpPr>
          <p:cNvPr id="14" name="Text 12"/>
          <p:cNvSpPr/>
          <p:nvPr/>
        </p:nvSpPr>
        <p:spPr>
          <a:xfrm>
            <a:off x="731520" y="4041648"/>
            <a:ext cx="7680960" cy="274320"/>
          </a:xfrm>
          <a:prstGeom prst="rect">
            <a:avLst/>
          </a:prstGeom>
          <a:noFill/>
          <a:ln/>
        </p:spPr>
        <p:txBody>
          <a:bodyPr wrap="square" rtlCol="0" anchor="ctr"/>
          <a:lstStyle/>
          <a:p>
            <a:pPr marL="0" indent="0">
              <a:buNone/>
            </a:pPr>
            <a:r>
              <a:rPr lang="en-US" sz="1600" b="1" dirty="0">
                <a:solidFill>
                  <a:srgbClr val="1F2937"/>
                </a:solidFill>
                <a:latin typeface="Arial" pitchFamily="34" charset="0"/>
                <a:ea typeface="Arial" pitchFamily="34" charset="-122"/>
                <a:cs typeface="Arial" pitchFamily="34" charset="-120"/>
              </a:rPr>
              <a:t>4. Create First Administrator User</a:t>
            </a:r>
            <a:endParaRPr lang="en-US" sz="1600" dirty="0"/>
          </a:p>
        </p:txBody>
      </p:sp>
      <p:sp>
        <p:nvSpPr>
          <p:cNvPr id="15" name="Text 13"/>
          <p:cNvSpPr/>
          <p:nvPr/>
        </p:nvSpPr>
        <p:spPr>
          <a:xfrm>
            <a:off x="731520" y="4315968"/>
            <a:ext cx="7680960" cy="2286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Fill in username, password, full name, and email address. Click 'Save and Finish' to complete setup.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459</Words>
  <Application>Microsoft Office PowerPoint</Application>
  <PresentationFormat>On-screen Show (16:9)</PresentationFormat>
  <Paragraphs>77</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Jenkins Setup on Debian/Ubuntu</dc:title>
  <dc:subject>PptxGenJS Presentation</dc:subject>
  <dc:creator>Claude</dc:creator>
  <cp:lastModifiedBy>john test</cp:lastModifiedBy>
  <cp:revision>2</cp:revision>
  <dcterms:created xsi:type="dcterms:W3CDTF">2026-02-09T05:24:00Z</dcterms:created>
  <dcterms:modified xsi:type="dcterms:W3CDTF">2026-02-09T05:27:27Z</dcterms:modified>
</cp:coreProperties>
</file>