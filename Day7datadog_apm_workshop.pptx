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51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APM with Datadog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Concepts, Instrumentation &amp;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211F40"/>
                </a:solidFill>
              </a:defRPr>
            </a:pPr>
            <a:r>
              <a:t>Part 1: APM Core Concepts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Traces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Spans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Services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Resources</a:t>
            </a:r>
          </a:p>
          <a:p/>
          <a:p>
            <a:pPr>
              <a:spcAft>
                <a:spcPts val="800"/>
              </a:spcAft>
              <a:defRPr sz="2400" b="1">
                <a:solidFill>
                  <a:srgbClr val="211F40"/>
                </a:solidFill>
              </a:defRPr>
            </a:pPr>
            <a:r>
              <a:t>Part 2: Instrumentation Methods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Auto Instrumentation (Single Step)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Manual Instrumentation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Library Integration</a:t>
            </a:r>
          </a:p>
          <a:p/>
          <a:p>
            <a:pPr>
              <a:spcAft>
                <a:spcPts val="800"/>
              </a:spcAft>
              <a:defRPr sz="2400" b="1">
                <a:solidFill>
                  <a:srgbClr val="211F40"/>
                </a:solidFill>
              </a:defRPr>
            </a:pPr>
            <a:r>
              <a:t>Part 3: Hands-on Workshop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Setup Datadog APM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Instrument a sample application</a:t>
            </a:r>
          </a:p>
          <a:p>
            <a:pPr lvl="1">
              <a:spcAft>
                <a:spcPts val="600"/>
              </a:spcAft>
              <a:defRPr sz="2000">
                <a:solidFill>
                  <a:srgbClr val="666666"/>
                </a:solidFill>
              </a:defRPr>
            </a:pPr>
            <a:r>
              <a:t>• Analyze traces in Datadog UI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Application Performance Monitoring (APM)?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211F40"/>
                </a:solidFill>
              </a:defRPr>
            </a:pPr>
            <a:r>
              <a:t>APM provides visibility into: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✓ Application performance and bottlenecks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✓ Request flow across distributed services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✓ Database queries and external API calls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✓ Error rates and exceptions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✓ Resource utilization and dependencies</a:t>
            </a:r>
          </a:p>
          <a:p>
            <a:br/>
            <a:pPr>
              <a:spcBef>
                <a:spcPts val="2000"/>
              </a:spcBef>
              <a:defRPr sz="2000" i="1">
                <a:solidFill>
                  <a:srgbClr val="6351C4"/>
                </a:solidFill>
              </a:defRPr>
            </a:pPr>
            <a:r>
              <a:t>Datadog APM automatically traces requests end-to-end across your entire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Concept: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 b="1">
                <a:solidFill>
                  <a:srgbClr val="6351C4"/>
                </a:solidFill>
              </a:defRPr>
            </a:pPr>
            <a:r>
              <a:t>What is a Trace?</a:t>
            </a:r>
          </a:p>
          <a:p>
            <a:pPr>
              <a:spcAft>
                <a:spcPts val="2000"/>
              </a:spcAft>
              <a:defRPr sz="2200">
                <a:solidFill>
                  <a:srgbClr val="211F40"/>
                </a:solidFill>
              </a:defRPr>
            </a:pPr>
            <a:r>
              <a:t>A trace represents the journey of a single request as it travels through your distributed system.</a:t>
            </a:r>
          </a:p>
          <a:p>
            <a:pPr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Key Characteristics: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Unique Trace ID identifies the entire request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Contains multiple spans (operations)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Shows the complete request path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Includes timing information for each step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Helps identify bottlenecks and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Concept: Spans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 b="1">
                <a:solidFill>
                  <a:srgbClr val="6351C4"/>
                </a:solidFill>
              </a:defRPr>
            </a:pPr>
            <a:r>
              <a:t>What is a Span?</a:t>
            </a:r>
          </a:p>
          <a:p>
            <a:pPr>
              <a:spcAft>
                <a:spcPts val="2000"/>
              </a:spcAft>
              <a:defRPr sz="2200">
                <a:solidFill>
                  <a:srgbClr val="211F40"/>
                </a:solidFill>
              </a:defRPr>
            </a:pPr>
            <a:r>
              <a:t>A span represents a single operation or unit of work within a trace.</a:t>
            </a:r>
          </a:p>
          <a:p>
            <a:pPr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Span Attributes: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Operation name (e.g., 'web.request', 'db.query')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Start time and duration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Service name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Resource name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Tags (metadata like HTTP method, status code)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Parent-child relationships with other spans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Trace &amp; Span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400" b="1">
                <a:solidFill>
                  <a:srgbClr val="6351C4"/>
                </a:solidFill>
              </a:defRPr>
            </a:pPr>
            <a:r>
              <a:t>Example: E-commerce checkout request</a:t>
            </a:r>
          </a:p>
          <a:p>
            <a:pPr>
              <a:spcAft>
                <a:spcPts val="1500"/>
              </a:spcAft>
              <a:defRPr sz="1800">
                <a:solidFill>
                  <a:srgbClr val="211F40"/>
                </a:solidFill>
                <a:latin typeface="Courier New"/>
              </a:defRPr>
            </a:pPr>
            <a:r>
              <a:t>Trace ID: abc-123-def-456</a:t>
            </a:r>
            <a:br/>
            <a:br/>
            <a:r>
              <a:t>└─ Span 1: web.request (Frontend Service) - 500ms</a:t>
            </a:r>
            <a:br/>
            <a:r>
              <a:t>   └─ Span 2: validate.cart (Cart Service) - 50ms</a:t>
            </a:r>
            <a:br/>
            <a:r>
              <a:t>      └─ Span 3: db.query (PostgreSQL) - 30ms</a:t>
            </a:r>
            <a:br/>
            <a:r>
              <a:t>   └─ Span 4: process.payment (Payment Service) - 300ms</a:t>
            </a:r>
            <a:br/>
            <a:r>
              <a:t>      └─ Span 5: api.call (Stripe API) - 250ms</a:t>
            </a:r>
            <a:br/>
            <a:r>
              <a:t>   └─ Span 6: send.email (Notification Service) - 100ms</a:t>
            </a:r>
            <a:br/>
            <a:r>
              <a:t>      └─ Span 7: api.call (SendGrid API) - 80ms</a:t>
            </a:r>
          </a:p>
          <a:p>
            <a:pPr>
              <a:defRPr sz="2000" i="1">
                <a:solidFill>
                  <a:srgbClr val="666666"/>
                </a:solidFill>
              </a:defRPr>
            </a:pPr>
            <a:r>
              <a:t>Each span shows what happened, where, and how long it took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Concept: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 b="1">
                <a:solidFill>
                  <a:srgbClr val="6351C4"/>
                </a:solidFill>
              </a:defRPr>
            </a:pPr>
            <a:r>
              <a:t>What is a Service?</a:t>
            </a:r>
          </a:p>
          <a:p>
            <a:pPr>
              <a:spcAft>
                <a:spcPts val="2000"/>
              </a:spcAft>
              <a:defRPr sz="2200">
                <a:solidFill>
                  <a:srgbClr val="211F40"/>
                </a:solidFill>
              </a:defRPr>
            </a:pPr>
            <a:r>
              <a:t>A service is a set of processes that work together to provide a specific business function.</a:t>
            </a:r>
          </a:p>
          <a:p>
            <a:pPr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Service Examples: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web-frontend (Node.js application)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auth-service (Authentication microservice)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postgres (Database)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redis (Cache)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payment-api (Payment processing service)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inventory-service (Inventory management)</a:t>
            </a:r>
          </a:p>
          <a:p>
            <a:br/>
            <a:pPr>
              <a:defRPr sz="2000" i="1">
                <a:solidFill>
                  <a:srgbClr val="6351C4"/>
                </a:solidFill>
              </a:defRPr>
            </a:pPr>
            <a:r>
              <a:t>Services help you organize and filter traces by application component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Concept: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 b="1">
                <a:solidFill>
                  <a:srgbClr val="6351C4"/>
                </a:solidFill>
              </a:defRPr>
            </a:pPr>
            <a:r>
              <a:t>What is a Resource?</a:t>
            </a:r>
          </a:p>
          <a:p>
            <a:pPr>
              <a:spcAft>
                <a:spcPts val="2000"/>
              </a:spcAft>
              <a:defRPr sz="2200">
                <a:solidFill>
                  <a:srgbClr val="211F40"/>
                </a:solidFill>
              </a:defRPr>
            </a:pPr>
            <a:r>
              <a:t>A resource is a specific action or endpoint within a service.</a:t>
            </a:r>
          </a:p>
          <a:p>
            <a:pPr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Resource Examples: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Web: GET /api/users/:id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Web: POST /checkout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Database: SELECT * FROM orders WHERE user_id = ?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Database: UPDATE products SET stock = stock - 1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Cache: GET user:session:123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RPC: UserService.GetProfile</a:t>
            </a:r>
          </a:p>
          <a:p>
            <a:br/>
            <a:pPr>
              <a:defRPr sz="2000" i="1">
                <a:solidFill>
                  <a:srgbClr val="6351C4"/>
                </a:solidFill>
              </a:defRPr>
            </a:pPr>
            <a:r>
              <a:t>Resources help identify which specific endpoints or queries are slow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11F4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┌─────────────────────────────────────────────┐</a:t>
            </a:r>
            <a:br/>
            <a:r>
              <a:t>│ TRACE (entire request journey)             │</a:t>
            </a:r>
            <a:br/>
            <a:r>
              <a:t>│ Trace ID: xyz-789                           │</a:t>
            </a:r>
            <a:br/>
            <a:r>
              <a:t>│ Duration: 523ms                             │</a:t>
            </a:r>
            <a:br/>
            <a:r>
              <a:t>│                                             │</a:t>
            </a:r>
            <a:br/>
            <a:r>
              <a:t>│  ┌──────────────────────────────────────┐  │</a:t>
            </a:r>
            <a:br/>
            <a:r>
              <a:t>│  │ SERVICE: web-frontend                │  │</a:t>
            </a:r>
            <a:br/>
            <a:r>
              <a:t>│  │  ┌────────────────────────────────┐  │  │</a:t>
            </a:r>
            <a:br/>
            <a:r>
              <a:t>│  │  │ SPAN: web.request              │  │  │</a:t>
            </a:r>
            <a:br/>
            <a:r>
              <a:t>│  │  │ Resource: GET /api/checkout    │  │  │</a:t>
            </a:r>
            <a:br/>
            <a:r>
              <a:t>│  │  │ Duration: 523ms                │  │  │</a:t>
            </a:r>
            <a:br/>
            <a:r>
              <a:t>│  │  └────────────────────────────────┘  │  │</a:t>
            </a:r>
            <a:br/>
            <a:r>
              <a:t>│  │                                      │  │</a:t>
            </a:r>
            <a:br/>
            <a:r>
              <a:t>│  │  ┌────────────────────────────────┐  │  │</a:t>
            </a:r>
            <a:br/>
            <a:r>
              <a:t>│  │  │ SPAN: http.call                │  │  │</a:t>
            </a:r>
            <a:br/>
            <a:r>
              <a:t>│  │  │ Resource: POST /payment        │  │  │</a:t>
            </a:r>
            <a:br/>
            <a:r>
              <a:t>│  │  │ Duration: 320ms                │  │  │</a:t>
            </a:r>
            <a:br/>
            <a:r>
              <a:t>│  │  └────────────────────────────────┘  │  │</a:t>
            </a:r>
            <a:br/>
            <a:r>
              <a:t>│  └──────────────────────────────────────┘  │</a:t>
            </a:r>
            <a:br/>
            <a:r>
              <a:t>│                                             │</a:t>
            </a:r>
            <a:br/>
            <a:r>
              <a:t>│  ┌──────────────────────────────────────┐  │</a:t>
            </a:r>
            <a:br/>
            <a:r>
              <a:t>│  │ SERVICE: payment-service             │  │</a:t>
            </a:r>
            <a:br/>
            <a:r>
              <a:t>│  │  ┌────────────────────────────────┐  │  │</a:t>
            </a:r>
            <a:br/>
            <a:r>
              <a:t>│  │  │ SPAN: service.handler          │  │  │</a:t>
            </a:r>
            <a:br/>
            <a:r>
              <a:t>│  │  │ Resource: ProcessPayment       │  │  │</a:t>
            </a:r>
            <a:br/>
            <a:r>
              <a:t>│  │  │ Duration: 315ms                │  │  │</a:t>
            </a:r>
            <a:br/>
            <a:r>
              <a:t>│  │  └────────────────────────────────┘  │  │</a:t>
            </a:r>
            <a:br/>
            <a:r>
              <a:t>│  └──────────────────────────────────────┘  │</a:t>
            </a:r>
            <a:br/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Instrumentation: How to Collect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6351C4"/>
                </a:solidFill>
              </a:defRPr>
            </a:pPr>
            <a:r>
              <a:t>Three Instrumentation Approaches:</a:t>
            </a:r>
          </a:p>
          <a:p>
            <a:pPr>
              <a:spcAft>
                <a:spcPts val="600"/>
              </a:spcAft>
              <a:defRPr sz="2200" b="1">
                <a:solidFill>
                  <a:srgbClr val="211F40"/>
                </a:solidFill>
              </a:defRPr>
            </a:pPr>
            <a:r>
              <a:t>1. Auto Instrumentation (Single Step)</a:t>
            </a:r>
          </a:p>
          <a:p>
            <a:pPr lvl="1">
              <a:spcAft>
                <a:spcPts val="400"/>
              </a:spcAft>
              <a:defRPr sz="1900">
                <a:solidFill>
                  <a:srgbClr val="666666"/>
                </a:solidFill>
              </a:defRPr>
            </a:pPr>
            <a:r>
              <a:t>Zero code changes, automatic tracing</a:t>
            </a:r>
          </a:p>
          <a:p>
            <a:pPr lvl="1">
              <a:spcAft>
                <a:spcPts val="1500"/>
              </a:spcAft>
              <a:defRPr sz="1800" i="1">
                <a:solidFill>
                  <a:srgbClr val="887AD6"/>
                </a:solidFill>
              </a:defRPr>
            </a:pPr>
            <a:r>
              <a:t>Best for: Quick setup, standard frameworks</a:t>
            </a:r>
          </a:p>
          <a:p>
            <a:pPr>
              <a:spcAft>
                <a:spcPts val="600"/>
              </a:spcAft>
              <a:defRPr sz="2200" b="1">
                <a:solidFill>
                  <a:srgbClr val="211F40"/>
                </a:solidFill>
              </a:defRPr>
            </a:pPr>
            <a:r>
              <a:t>2. Library Instrumentation</a:t>
            </a:r>
          </a:p>
          <a:p>
            <a:pPr lvl="1">
              <a:spcAft>
                <a:spcPts val="400"/>
              </a:spcAft>
              <a:defRPr sz="1900">
                <a:solidFill>
                  <a:srgbClr val="666666"/>
                </a:solidFill>
              </a:defRPr>
            </a:pPr>
            <a:r>
              <a:t>Import and configure tracing libraries</a:t>
            </a:r>
          </a:p>
          <a:p>
            <a:pPr lvl="1">
              <a:spcAft>
                <a:spcPts val="1500"/>
              </a:spcAft>
              <a:defRPr sz="1800" i="1">
                <a:solidFill>
                  <a:srgbClr val="887AD6"/>
                </a:solidFill>
              </a:defRPr>
            </a:pPr>
            <a:r>
              <a:t>Best for: Granular control, custom logic</a:t>
            </a:r>
          </a:p>
          <a:p>
            <a:pPr>
              <a:spcAft>
                <a:spcPts val="600"/>
              </a:spcAft>
              <a:defRPr sz="2200" b="1">
                <a:solidFill>
                  <a:srgbClr val="211F40"/>
                </a:solidFill>
              </a:defRPr>
            </a:pPr>
            <a:r>
              <a:t>3. Manual Instrumentation</a:t>
            </a:r>
          </a:p>
          <a:p>
            <a:pPr lvl="1">
              <a:spcAft>
                <a:spcPts val="400"/>
              </a:spcAft>
              <a:defRPr sz="1900">
                <a:solidFill>
                  <a:srgbClr val="666666"/>
                </a:solidFill>
              </a:defRPr>
            </a:pPr>
            <a:r>
              <a:t>Create spans programmatically</a:t>
            </a:r>
          </a:p>
          <a:p>
            <a:pPr lvl="1">
              <a:spcAft>
                <a:spcPts val="1500"/>
              </a:spcAft>
              <a:defRPr sz="1800" i="1">
                <a:solidFill>
                  <a:srgbClr val="887AD6"/>
                </a:solidFill>
              </a:defRPr>
            </a:pPr>
            <a:r>
              <a:t>Best for: Custom operations, advanced use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Auto Instrumentation (Single 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800" b="1">
                <a:solidFill>
                  <a:srgbClr val="6351C4"/>
                </a:solidFill>
              </a:defRPr>
            </a:pPr>
            <a:r>
              <a:t>Zero Code Changes Required!</a:t>
            </a:r>
          </a:p>
          <a:p>
            <a:pPr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How It Works: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Datadog Agent runs alongside your application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Injection library automatically instruments your code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Supported for Java, Python, Node.js, Ruby, .NET, PHP, Go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Traces common frameworks and libraries automatically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• Configuration via environment variables</a:t>
            </a:r>
          </a:p>
          <a:p>
            <a:br/>
            <a:pPr>
              <a:spcBef>
                <a:spcPts val="1500"/>
              </a:spcBef>
              <a:spcAft>
                <a:spcPts val="1000"/>
              </a:spcAft>
              <a:defRPr sz="2200" b="1">
                <a:solidFill>
                  <a:srgbClr val="211F40"/>
                </a:solidFill>
              </a:defRPr>
            </a:pPr>
            <a:r>
              <a:t>Setup Example (Docker):</a:t>
            </a:r>
          </a:p>
          <a:p>
            <a:pPr>
              <a:defRPr sz="1600">
                <a:solidFill>
                  <a:srgbClr val="211F40"/>
                </a:solidFill>
                <a:latin typeface="Courier New"/>
              </a:defRPr>
            </a:pPr>
            <a:r>
              <a:t>docker run -d \</a:t>
            </a:r>
            <a:br/>
            <a:r>
              <a:t>  -e DD_APM_ENABLED=true \</a:t>
            </a:r>
            <a:br/>
            <a:r>
              <a:t>  -e DD_APM_INSTRUMENTATION_ENABLED=host \</a:t>
            </a:r>
            <a:br/>
            <a:r>
              <a:t>  -v /var/run/datadog:/var/run/datadog \</a:t>
            </a:r>
            <a:br/>
            <a:r>
              <a:t>  -v /opt/datadog-agent:/opt/datadog-agent \</a:t>
            </a:r>
            <a:br/>
            <a:r>
              <a:t>  datadog/agent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Library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400" b="1">
                <a:solidFill>
                  <a:srgbClr val="6351C4"/>
                </a:solidFill>
              </a:defRPr>
            </a:pPr>
            <a:r>
              <a:t>Import and configure tracing libraries in your code</a:t>
            </a:r>
          </a:p>
          <a:p>
            <a:pPr>
              <a:spcAft>
                <a:spcPts val="1000"/>
              </a:spcAft>
              <a:defRPr sz="2200" b="1">
                <a:solidFill>
                  <a:srgbClr val="211F40"/>
                </a:solidFill>
              </a:defRPr>
            </a:pPr>
            <a:r>
              <a:t>Python Example:</a:t>
            </a:r>
          </a:p>
          <a:p>
            <a:pPr>
              <a:spcAft>
                <a:spcPts val="1500"/>
              </a:spcAft>
              <a:defRPr sz="1800">
                <a:solidFill>
                  <a:srgbClr val="211F40"/>
                </a:solidFill>
                <a:latin typeface="Courier New"/>
              </a:defRPr>
            </a:pPr>
            <a:r>
              <a:t># Install library</a:t>
            </a:r>
            <a:br/>
            <a:r>
              <a:t>pip install ddtrace</a:t>
            </a:r>
            <a:br/>
            <a:br/>
            <a:r>
              <a:t># Run your application</a:t>
            </a:r>
            <a:br/>
            <a:r>
              <a:t>ddtrace-run python app.py</a:t>
            </a:r>
          </a:p>
          <a:p>
            <a:pPr>
              <a:spcAft>
                <a:spcPts val="1000"/>
              </a:spcAft>
              <a:defRPr sz="2200" b="1">
                <a:solidFill>
                  <a:srgbClr val="211F40"/>
                </a:solidFill>
              </a:defRPr>
            </a:pPr>
            <a:r>
              <a:t>Node.js Example:</a:t>
            </a:r>
          </a:p>
          <a:p>
            <a:pPr>
              <a:defRPr sz="1800">
                <a:solidFill>
                  <a:srgbClr val="211F40"/>
                </a:solidFill>
                <a:latin typeface="Courier New"/>
              </a:defRPr>
            </a:pPr>
            <a:r>
              <a:t>// Install library</a:t>
            </a:r>
            <a:br/>
            <a:r>
              <a:t>npm install dd-trace</a:t>
            </a:r>
            <a:br/>
            <a:br/>
            <a:r>
              <a:t>// Add to your app entry point (first line!)</a:t>
            </a:r>
            <a:br/>
            <a:r>
              <a:t>require('dd-trace').init();</a:t>
            </a:r>
            <a:br/>
            <a:br/>
            <a:r>
              <a:t>const express = require('express');</a:t>
            </a:r>
            <a:br/>
            <a:r>
              <a:t>const app = express();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Manual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400" b="1">
                <a:solidFill>
                  <a:srgbClr val="6351C4"/>
                </a:solidFill>
              </a:defRPr>
            </a:pPr>
            <a:r>
              <a:t>Create custom spans for specific operations</a:t>
            </a:r>
          </a:p>
          <a:p>
            <a:pPr>
              <a:spcAft>
                <a:spcPts val="1000"/>
              </a:spcAft>
              <a:defRPr sz="2200" b="1">
                <a:solidFill>
                  <a:srgbClr val="211F40"/>
                </a:solidFill>
              </a:defRPr>
            </a:pPr>
            <a:r>
              <a:t>Python Example:</a:t>
            </a:r>
          </a:p>
          <a:p>
            <a:pPr>
              <a:spcAft>
                <a:spcPts val="1500"/>
              </a:spcAft>
              <a:defRPr sz="1600">
                <a:solidFill>
                  <a:srgbClr val="211F40"/>
                </a:solidFill>
                <a:latin typeface="Courier New"/>
              </a:defRPr>
            </a:pPr>
            <a:r>
              <a:t>from ddtrace import tracer</a:t>
            </a:r>
            <a:br/>
            <a:br/>
            <a:r>
              <a:t>@app.route('/process')</a:t>
            </a:r>
            <a:br/>
            <a:r>
              <a:t>def process_order():</a:t>
            </a:r>
            <a:br/>
            <a:r>
              <a:t>    # Create a custom span</a:t>
            </a:r>
            <a:br/>
            <a:r>
              <a:t>    with tracer.trace("order.processing", service="order-service") as span:</a:t>
            </a:r>
            <a:br/>
            <a:r>
              <a:t>        span.set_tag("order.id", order_id)</a:t>
            </a:r>
            <a:br/>
            <a:r>
              <a:t>        span.set_tag("user.tier", "premium")</a:t>
            </a:r>
            <a:br/>
            <a:r>
              <a:t>        </a:t>
            </a:r>
            <a:br/>
            <a:r>
              <a:t>        # Your business logic</a:t>
            </a:r>
            <a:br/>
            <a:r>
              <a:t>        result = complex_calculation()</a:t>
            </a:r>
            <a:br/>
            <a:r>
              <a:t>        </a:t>
            </a:r>
            <a:br/>
            <a:r>
              <a:t>        span.set_metric("items.count", len(result))</a:t>
            </a:r>
            <a:br/>
            <a:r>
              <a:t>    return result</a:t>
            </a:r>
          </a:p>
          <a:p>
            <a:pPr>
              <a:defRPr sz="1800" i="1">
                <a:solidFill>
                  <a:srgbClr val="666666"/>
                </a:solidFill>
              </a:defRPr>
            </a:pPr>
            <a:r>
              <a:t>Use Cases: Database operations, external API calls, business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Instrumentation Method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500">
                <a:solidFill>
                  <a:srgbClr val="211F40"/>
                </a:solidFill>
                <a:latin typeface="Courier New"/>
              </a:defRPr>
            </a:pPr>
            <a:r>
              <a:t>╔══════════════════╦═══════════════╦═══════════════╦═══════════════╗</a:t>
            </a:r>
            <a:br/>
            <a:r>
              <a:t>║                  ║ Auto          ║ Library       ║ Manual        ║</a:t>
            </a:r>
            <a:br/>
            <a:r>
              <a:t>║                  ║ (Single Step) ║               ║             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Code Changes     ║ None          ║ Minimal       ║ Extensive   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Setup Time       ║ Minutes       ║ &lt; 30 min      ║ Hours       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Customization    ║ Limited       ║ Moderate      ║ Full        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Framework        ║ Auto-detected ║ Auto-detected ║ Manual        ║</a:t>
            </a:r>
            <a:br/>
            <a:r>
              <a:t>║ Support          ║               ║               ║             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Best For         ║ Quick start   ║ Standard apps ║ Complex       ║</a:t>
            </a:r>
            <a:br/>
            <a:r>
              <a:t>║                  ║ Standard tech ║ Some custom   ║ Custom logic  ║</a:t>
            </a:r>
            <a:br/>
            <a:r>
              <a:t>╠══════════════════╬═══════════════╬═══════════════╬═══════════════╣</a:t>
            </a:r>
            <a:br/>
            <a:r>
              <a:t>║ Performance      ║ Low overhead  ║ Low overhead  ║ Configurable  ║</a:t>
            </a:r>
            <a:br/>
            <a:r>
              <a:t>║ Impact           ║               ║               ║               ║</a:t>
            </a:r>
            <a:br/>
            <a:r>
              <a:t>╚══════════════════╩═══════════════╩═══════════════╩═══════════════╝</a:t>
            </a:r>
          </a:p>
          <a:p>
            <a:pPr>
              <a:defRPr sz="2000" b="1">
                <a:solidFill>
                  <a:srgbClr val="6351C4"/>
                </a:solidFill>
              </a:defRPr>
            </a:pPr>
            <a:r>
              <a:t>💡 Recommendation: Start with Auto/Library, add Manual for custom 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6351C4"/>
                </a:solidFill>
              </a:defRPr>
            </a:pPr>
            <a:r>
              <a:t>Prerequisites: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✓ Datadog account (free trial available at datadoghq.com)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✓ Docker and Docker Compose installed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✓ Your Datadog API key (from Settings &gt; API Keys)</a:t>
            </a:r>
          </a:p>
          <a:p>
            <a:pPr>
              <a:spcAft>
                <a:spcPts val="800"/>
              </a:spcAft>
              <a:defRPr sz="2000">
                <a:solidFill>
                  <a:srgbClr val="666666"/>
                </a:solidFill>
              </a:defRPr>
            </a:pPr>
            <a:r>
              <a:t>✓ Sample application (we'll provide)</a:t>
            </a:r>
          </a:p>
          <a:p>
            <a:br/>
            <a:pPr>
              <a:spcBef>
                <a:spcPts val="1500"/>
              </a:spcBef>
              <a:spcAft>
                <a:spcPts val="1000"/>
              </a:spcAft>
              <a:defRPr sz="2400" b="1">
                <a:solidFill>
                  <a:srgbClr val="211F40"/>
                </a:solidFill>
              </a:defRPr>
            </a:pPr>
            <a:r>
              <a:t>Step 1: Install Datadog Agent</a:t>
            </a:r>
          </a:p>
          <a:p>
            <a:pPr>
              <a:defRPr sz="1600">
                <a:solidFill>
                  <a:srgbClr val="211F40"/>
                </a:solidFill>
                <a:latin typeface="Courier New"/>
              </a:defRPr>
            </a:pPr>
            <a:r>
              <a:t>DD_API_KEY=&lt;your-api-key&gt; DD_SITE="datadoghq.com" \</a:t>
            </a:r>
            <a:br/>
            <a:r>
              <a:t>bash -c "$(curl -L https://install.datadoghq.com/scripts/install_script_agent7.sh)"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Sample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 b="1">
                <a:solidFill>
                  <a:srgbClr val="6351C4"/>
                </a:solidFill>
              </a:defRPr>
            </a:pPr>
            <a:r>
              <a:t>We'll instrument a simple e-commerce microservice:</a:t>
            </a:r>
          </a:p>
          <a:p>
            <a:pPr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Architecture:</a:t>
            </a:r>
          </a:p>
          <a:p>
            <a:pPr>
              <a:spcAft>
                <a:spcPts val="600"/>
              </a:spcAft>
              <a:defRPr sz="1900">
                <a:solidFill>
                  <a:srgbClr val="666666"/>
                </a:solidFill>
              </a:defRPr>
            </a:pPr>
            <a:r>
              <a:t>• Frontend (Node.js + Express)</a:t>
            </a:r>
          </a:p>
          <a:p>
            <a:pPr>
              <a:spcAft>
                <a:spcPts val="600"/>
              </a:spcAft>
              <a:defRPr sz="1900">
                <a:solidFill>
                  <a:srgbClr val="666666"/>
                </a:solidFill>
              </a:defRPr>
            </a:pPr>
            <a:r>
              <a:t>• Product Service (Python + Flask)</a:t>
            </a:r>
          </a:p>
          <a:p>
            <a:pPr>
              <a:spcAft>
                <a:spcPts val="600"/>
              </a:spcAft>
              <a:defRPr sz="1900">
                <a:solidFill>
                  <a:srgbClr val="666666"/>
                </a:solidFill>
              </a:defRPr>
            </a:pPr>
            <a:r>
              <a:t>• Order Service (Python + Flask)</a:t>
            </a:r>
          </a:p>
          <a:p>
            <a:pPr>
              <a:spcAft>
                <a:spcPts val="600"/>
              </a:spcAft>
              <a:defRPr sz="1900">
                <a:solidFill>
                  <a:srgbClr val="666666"/>
                </a:solidFill>
              </a:defRPr>
            </a:pPr>
            <a:r>
              <a:t>• PostgreSQL Database</a:t>
            </a:r>
          </a:p>
          <a:p>
            <a:pPr>
              <a:spcAft>
                <a:spcPts val="600"/>
              </a:spcAft>
              <a:defRPr sz="1900">
                <a:solidFill>
                  <a:srgbClr val="666666"/>
                </a:solidFill>
              </a:defRPr>
            </a:pPr>
            <a:r>
              <a:t>• Redis Cache</a:t>
            </a:r>
          </a:p>
          <a:p>
            <a:br/>
            <a:pPr>
              <a:spcBef>
                <a:spcPts val="1500"/>
              </a:spcBef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API Endpoints: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  <a:latin typeface="Courier New"/>
              </a:defRPr>
            </a:pPr>
            <a:r>
              <a:t>• GET /products - List all products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  <a:latin typeface="Courier New"/>
              </a:defRPr>
            </a:pPr>
            <a:r>
              <a:t>• GET /products/:id - Get product details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  <a:latin typeface="Courier New"/>
              </a:defRPr>
            </a:pPr>
            <a:r>
              <a:t>• POST /orders - Create new order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  <a:latin typeface="Courier New"/>
              </a:defRPr>
            </a:pPr>
            <a:r>
              <a:t>• GET /orders/:id - Get order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Exercise 1 - Auto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 b="1">
                <a:solidFill>
                  <a:srgbClr val="6351C4"/>
                </a:solidFill>
              </a:defRPr>
            </a:pPr>
            <a:r>
              <a:t>Goal: Enable APM with zero code changes</a:t>
            </a:r>
          </a:p>
          <a:p>
            <a:pPr>
              <a:spcAft>
                <a:spcPts val="1000"/>
              </a:spcAft>
              <a:defRPr sz="2000" b="1">
                <a:solidFill>
                  <a:srgbClr val="211F40"/>
                </a:solidFill>
              </a:defRPr>
            </a:pPr>
            <a:r>
              <a:t>Steps: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1. Update docker-compose.yml with Datadog environment variables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2. Set DD_APM_ENABLED=true and DD_APM_INSTRUMENTATION_ENABLED=host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3. Restart services: docker-compose up -d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4. Generate traffic: curl http://localhost:8080/products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5. View traces in Datadog: APM &gt; Traces</a:t>
            </a:r>
          </a:p>
          <a:p>
            <a:br/>
            <a:pPr>
              <a:spcBef>
                <a:spcPts val="1500"/>
              </a:spcBef>
              <a:defRPr sz="2000" b="1">
                <a:solidFill>
                  <a:srgbClr val="887AD6"/>
                </a:solidFill>
              </a:defRPr>
            </a:pPr>
            <a:r>
              <a:t>⏱️ Time: 10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Exercise 2 - Library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6351C4"/>
                </a:solidFill>
              </a:defRPr>
            </a:pPr>
            <a:r>
              <a:t>Goal: Add ddtrace library to Python services</a:t>
            </a:r>
          </a:p>
          <a:p>
            <a:pPr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1. Update requirements.txt:</a:t>
            </a:r>
          </a:p>
          <a:p>
            <a:pPr>
              <a:spcAft>
                <a:spcPts val="1200"/>
              </a:spcAft>
              <a:defRPr sz="1700">
                <a:solidFill>
                  <a:srgbClr val="211F40"/>
                </a:solidFill>
                <a:latin typeface="Courier New"/>
              </a:defRPr>
            </a:pPr>
            <a:r>
              <a:t>flask</a:t>
            </a:r>
            <a:br/>
            <a:r>
              <a:t>psycopg2-binary</a:t>
            </a:r>
            <a:br/>
            <a:r>
              <a:t>redis</a:t>
            </a:r>
            <a:br/>
            <a:r>
              <a:t>ddtrace  # Add this line</a:t>
            </a:r>
          </a:p>
          <a:p>
            <a:pPr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2. Update Dockerfile CMD:</a:t>
            </a:r>
          </a:p>
          <a:p>
            <a:pPr>
              <a:spcAft>
                <a:spcPts val="1200"/>
              </a:spcAft>
              <a:defRPr sz="1700">
                <a:solidFill>
                  <a:srgbClr val="211F40"/>
                </a:solidFill>
                <a:latin typeface="Courier New"/>
              </a:defRPr>
            </a:pPr>
            <a:r>
              <a:t>CMD ["ddtrace-run", "python", "app.py"]</a:t>
            </a:r>
          </a:p>
          <a:p>
            <a:pPr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3. Rebuild and test:</a:t>
            </a:r>
          </a:p>
          <a:p>
            <a:pPr>
              <a:defRPr sz="1700">
                <a:solidFill>
                  <a:srgbClr val="211F40"/>
                </a:solidFill>
                <a:latin typeface="Courier New"/>
              </a:defRPr>
            </a:pPr>
            <a:r>
              <a:t>docker-compose build</a:t>
            </a:r>
            <a:br/>
            <a:r>
              <a:t>docker-compose up -d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Exercise 3 - Manual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6351C4"/>
                </a:solidFill>
              </a:defRPr>
            </a:pPr>
            <a:r>
              <a:t>Goal: Add custom spans for business logic</a:t>
            </a:r>
          </a:p>
          <a:p>
            <a:pPr>
              <a:spcAft>
                <a:spcPts val="1000"/>
              </a:spcAft>
              <a:defRPr sz="2000" b="1">
                <a:solidFill>
                  <a:srgbClr val="211F40"/>
                </a:solidFill>
              </a:defRPr>
            </a:pPr>
            <a:r>
              <a:t>Task: Instrument order processing function</a:t>
            </a:r>
          </a:p>
          <a:p>
            <a:pPr>
              <a:defRPr sz="1500">
                <a:solidFill>
                  <a:srgbClr val="211F40"/>
                </a:solidFill>
                <a:latin typeface="Courier New"/>
              </a:defRPr>
            </a:pPr>
            <a:r>
              <a:t>from ddtrace import tracer</a:t>
            </a:r>
            <a:br/>
            <a:br/>
            <a:r>
              <a:t>@app.route('/orders', methods=['POST'])</a:t>
            </a:r>
            <a:br/>
            <a:r>
              <a:t>def create_order():</a:t>
            </a:r>
            <a:br/>
            <a:r>
              <a:t>    order_data = request.get_json()</a:t>
            </a:r>
            <a:br/>
            <a:r>
              <a:t>    </a:t>
            </a:r>
            <a:br/>
            <a:r>
              <a:t>    # Create custom span for inventory check</a:t>
            </a:r>
            <a:br/>
            <a:r>
              <a:t>    with tracer.trace("check.inventory", service="order-service") as span:</a:t>
            </a:r>
            <a:br/>
            <a:r>
              <a:t>        span.set_tag("product.id", order_data['product_id'])</a:t>
            </a:r>
            <a:br/>
            <a:r>
              <a:t>        span.set_tag("quantity", order_data['quantity'])</a:t>
            </a:r>
            <a:br/>
            <a:r>
              <a:t>        </a:t>
            </a:r>
            <a:br/>
            <a:r>
              <a:t>        available = check_inventory(order_data['product_id'])</a:t>
            </a:r>
            <a:br/>
            <a:r>
              <a:t>        span.set_metric("inventory.available", available)</a:t>
            </a:r>
            <a:br/>
            <a:r>
              <a:t>    </a:t>
            </a:r>
            <a:br/>
            <a:r>
              <a:t>    # Create custom span for payment processing</a:t>
            </a:r>
            <a:br/>
            <a:r>
              <a:t>    with tracer.trace("process.payment", service="order-service") as span:</a:t>
            </a:r>
            <a:br/>
            <a:r>
              <a:t>        span.set_tag("payment.method", order_data['payment_method'])</a:t>
            </a:r>
            <a:br/>
            <a:r>
              <a:t>        </a:t>
            </a:r>
            <a:br/>
            <a:r>
              <a:t>        payment_result = process_payment(order_data)</a:t>
            </a:r>
            <a:br/>
            <a:r>
              <a:t>        span.set_tag("payment.status", payment_result['status'])</a:t>
            </a:r>
            <a:br/>
            <a:r>
              <a:t>    </a:t>
            </a:r>
            <a:br/>
            <a:r>
              <a:t>    return jsonify({"order_id": new_order_id})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Workshop: Analyzing Traces in Datadog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 b="1">
                <a:solidFill>
                  <a:srgbClr val="6351C4"/>
                </a:solidFill>
              </a:defRPr>
            </a:pPr>
            <a:r>
              <a:t>Navigate to APM &gt; Traces in Datadog UI</a:t>
            </a:r>
          </a:p>
          <a:p>
            <a:pPr>
              <a:spcAft>
                <a:spcPts val="1000"/>
              </a:spcAft>
              <a:defRPr sz="2000" b="1">
                <a:solidFill>
                  <a:srgbClr val="211F40"/>
                </a:solidFill>
              </a:defRPr>
            </a:pPr>
            <a:r>
              <a:t>What to Look For: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Service Map - Visualize dependencies between services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Flame Graph - See time spent in each span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Latency Percentiles (p50, p75, p95, p99)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Error Rate - Identify failing requests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Slowest Resources - Find performance bottlenecks</a:t>
            </a:r>
          </a:p>
          <a:p>
            <a:pPr>
              <a:spcAft>
                <a:spcPts val="800"/>
              </a:spcAft>
              <a:defRPr sz="1900">
                <a:solidFill>
                  <a:srgbClr val="666666"/>
                </a:solidFill>
              </a:defRPr>
            </a:pPr>
            <a:r>
              <a:t>• Tags and Metadata - Filter by custom tags</a:t>
            </a:r>
          </a:p>
          <a:p>
            <a:br/>
            <a:pPr>
              <a:spcBef>
                <a:spcPts val="1200"/>
              </a:spcBef>
              <a:spcAft>
                <a:spcPts val="800"/>
              </a:spcAft>
              <a:defRPr sz="2000" b="1">
                <a:solidFill>
                  <a:srgbClr val="211F40"/>
                </a:solidFill>
              </a:defRPr>
            </a:pPr>
            <a:r>
              <a:t>Exercise Questions:</a:t>
            </a:r>
          </a:p>
          <a:p>
            <a:pPr>
              <a:spcAft>
                <a:spcPts val="600"/>
              </a:spcAft>
              <a:defRPr sz="1800">
                <a:solidFill>
                  <a:srgbClr val="887AD6"/>
                </a:solidFill>
              </a:defRPr>
            </a:pPr>
            <a:r>
              <a:t>? Which service has the highest latency?</a:t>
            </a:r>
          </a:p>
          <a:p>
            <a:pPr>
              <a:spcAft>
                <a:spcPts val="600"/>
              </a:spcAft>
              <a:defRPr sz="1800">
                <a:solidFill>
                  <a:srgbClr val="887AD6"/>
                </a:solidFill>
              </a:defRPr>
            </a:pPr>
            <a:r>
              <a:t>? What percentage of requests are errors?</a:t>
            </a:r>
          </a:p>
          <a:p>
            <a:pPr>
              <a:spcAft>
                <a:spcPts val="600"/>
              </a:spcAft>
              <a:defRPr sz="1800">
                <a:solidFill>
                  <a:srgbClr val="887AD6"/>
                </a:solidFill>
              </a:defRPr>
            </a:pPr>
            <a:r>
              <a:t>? Which database query is slowest?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APM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Use Meaningful Service Names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Group related components logically (e.g., 'auth-service', not 'service-1')</a:t>
            </a:r>
          </a:p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Add Custom Tags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Include business context: user_id, customer_tier, feature_flag</a:t>
            </a:r>
          </a:p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Set Sampling Rates Wisely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Balance cost vs. visibility (1-10% for high traffic)</a:t>
            </a:r>
          </a:p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Monitor Resource-Level Metrics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Track specific endpoints, not just services</a:t>
            </a:r>
          </a:p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Set Up Alerts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Alert on p95 latency spikes and error rate thresholds</a:t>
            </a:r>
          </a:p>
          <a:p>
            <a:pPr>
              <a:spcAft>
                <a:spcPts val="600"/>
              </a:spcAft>
              <a:defRPr sz="2000" b="1">
                <a:solidFill>
                  <a:srgbClr val="6351C4"/>
                </a:solidFill>
              </a:defRPr>
            </a:pPr>
            <a:r>
              <a:t>✓ Correlate with Logs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Use trace_id in logs for full context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Pitfalls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Over-instrumenting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Too many custom spans = noise and overhead</a:t>
            </a:r>
          </a:p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Under-instrumenting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Missing critical business operations</a:t>
            </a:r>
          </a:p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Inconsistent Naming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Use consistent resource names across services</a:t>
            </a:r>
          </a:p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Ignoring Cardinality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High-cardinality tags (e.g., email) = cost explosion</a:t>
            </a:r>
          </a:p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Not Setting Service Env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Always set DD_ENV (prod, staging, dev)</a:t>
            </a:r>
          </a:p>
          <a:p>
            <a:pPr>
              <a:spcAft>
                <a:spcPts val="600"/>
              </a:spcAft>
              <a:defRPr sz="2000" b="1">
                <a:solidFill>
                  <a:srgbClr val="DC3545"/>
                </a:solidFill>
              </a:defRPr>
            </a:pPr>
            <a:r>
              <a:t>⚠️ Missing Error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Always tag spans with error status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Advanced Topics (Beyond This Workshop)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Distributed Tracing across multi-cloud environments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OpenTelemetry integration with Datadog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Custom metrics from traces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Trace analytics and retention filters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APM + RUM (Real User Monitoring) correlation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Profiling with Continuous Profiler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Security monitoring with Application Security</a:t>
            </a:r>
          </a:p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• Cost optimization strategies</a:t>
            </a:r>
          </a:p>
          <a:p>
            <a:br/>
            <a:pPr>
              <a:spcBef>
                <a:spcPts val="1500"/>
              </a:spcBef>
              <a:spcAft>
                <a:spcPts val="1000"/>
              </a:spcAft>
              <a:defRPr sz="2400" b="1">
                <a:solidFill>
                  <a:srgbClr val="6351C4"/>
                </a:solidFill>
              </a:defRPr>
            </a:pPr>
            <a:r>
              <a:t>📚 Resources:</a:t>
            </a:r>
          </a:p>
          <a:p>
            <a:pPr>
              <a:spcAft>
                <a:spcPts val="600"/>
              </a:spcAft>
              <a:defRPr sz="1900">
                <a:solidFill>
                  <a:srgbClr val="887AD6"/>
                </a:solidFill>
              </a:defRPr>
            </a:pPr>
            <a:r>
              <a:t>• docs.datadoghq.com/tracing/</a:t>
            </a:r>
          </a:p>
          <a:p>
            <a:pPr>
              <a:spcAft>
                <a:spcPts val="600"/>
              </a:spcAft>
              <a:defRPr sz="1900">
                <a:solidFill>
                  <a:srgbClr val="887AD6"/>
                </a:solidFill>
              </a:defRPr>
            </a:pPr>
            <a:r>
              <a:t>• learn.datadoghq.com</a:t>
            </a:r>
          </a:p>
          <a:p>
            <a:pPr>
              <a:spcAft>
                <a:spcPts val="600"/>
              </a:spcAft>
              <a:defRPr sz="1900">
                <a:solidFill>
                  <a:srgbClr val="887AD6"/>
                </a:solidFill>
              </a:defRPr>
            </a:pPr>
            <a:r>
              <a:t>• Datadog Community: community.datadoghq.com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51C4"/>
          </a:solidFill>
        </p:spPr>
        <p:txBody>
          <a:bodyPr wrap="none" lIns="27432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2000"/>
              </a:spcAft>
              <a:defRPr sz="4800" b="1">
                <a:solidFill>
                  <a:srgbClr val="6351C4"/>
                </a:solidFill>
              </a:defRPr>
            </a:pPr>
            <a:r>
              <a:t>Thank you!</a:t>
            </a:r>
          </a:p>
          <a:p>
            <a:pPr algn="ctr">
              <a:spcAft>
                <a:spcPts val="3000"/>
              </a:spcAft>
              <a:defRPr sz="4000">
                <a:solidFill>
                  <a:srgbClr val="211F40"/>
                </a:solidFill>
              </a:defRPr>
            </a:pPr>
            <a:r>
              <a:t>Questions?</a:t>
            </a:r>
          </a:p>
          <a:p>
            <a:pPr algn="ctr">
              <a:defRPr sz="2800">
                <a:solidFill>
                  <a:srgbClr val="666666"/>
                </a:solidFill>
              </a:defRPr>
            </a:pPr>
            <a:r>
              <a:t>Let's explore Datadog APM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